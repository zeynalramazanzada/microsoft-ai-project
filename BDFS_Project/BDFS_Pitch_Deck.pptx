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Alperen, and together with my teammate Zeynalabidin, we present BDFS — Behavioral Decision Fatigue Scoring. This is a real-time machine learning system designed to detect cognitive decision fatigue non-intrusively, purely by analyzing how a person behaves — not what they wear, not what they report, but how they respond. Over the next ten minutes, we'll walk you through the problem, our solution, the data, the models, and a live demonstration.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this: cognitive decision fatigue is responsible for a significant proportion of human errors in high-pressure environments. Yet unlike physical fatigue, it leaves no visible trace. A surgeon five hours into a procedure, an air traffic controller mid-shift, a driver on a long highway — all may be cognitively impaired while appearing completely normal. Current solutions — EEG sensors, biometric wristbands, post-task surveys — are either invasive, expensive, or far too slow to be actionable. BDFS addresses this gap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consequences of undetected decision fatigue are severe and measurable. In healthcare, studies consistently show that procedural errors increase during extended shifts — not because clinicians become careless, but because their cognitive machinery is exhausted. In aviation, regulatory bodies identify cognitive overload as a contributing factor in a large share of serious incidents. In finance, researchers have documented that judges approve fewer parole requests as the day goes on — not for legal reasons, but purely because of mental fatigue. The economic cost is in the billions annually. A real-time, non-intrusive detection system is not just a convenience — it is a safety-critical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BDFS is built on a deceptively simple premise: the way a person makes decisions — how fast, how consistently, how randomly — reveals their cognitive state. We collect nineteen behavioral features derived from reaction times, choice patterns, and cognitive model parameters. These are fed into an XGBoost classifier trained on over twenty-two thousand labeled observations. The system responds in milliseconds, returns a fatigue probability score, and explains the prediction using SHAP values. No headset. No survey. No delay. Just clean, actionable intelligence from behavior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dataset contains 150,000 behavioral trial records from simulated decision-making tasks, with a 66-to-34 class split between non-fatigued and fatigued states. Each record captures 19 features spanning three conceptual groups: temporal features like rolling choice inconsistency over the last 5 and 10 trials, which track how erratically a person's decisions shift over time; cognitive features derived from the Drift Diffusion Model, which decomposes reaction time into psychological components like drift rate and decision boundary; and behavioral features like preference reversal rate and accuracy decay. As you can see in this distribution plot, fatigued subjects show clearly distinct patterns, particularly in the inconsistency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systematically evaluated five machine learning classifiers under identical conditions. The results are clear: XGBoost achieved a ROC-AUC of 0.967 and an F1-Score of 0.866 on the held-out test set. What makes this particularly impressive is the precision-recall balance — 91.6% precision means very few false alarms, while 82.1% recall means the system catches the vast majority of genuinely fatigued states. Random Forest was competitive on AUC but showed lower precision. Logistic Regression proved surprisingly strong, confirming that some fatigue signals are linearly separable. SVM and KNN struggled significantly, highlighting that behavioral data contains complex non-linear interactions that require tree-based methods to properly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BDFS pipeline is a clean, six-stage data flow. A clinician or researcher opens the web interface and either manually sets the 19 behavioral feature sliders, or loads a preset profile. On submission, the values are serialized to JSON and sent via HTTP POST to our FastAPI backend. The server applies a StandardScaler that was fit exclusively on training data — a critical engineering decision that prevents data leakage in production. The scaled vector is fed to XGBoost, which returns a class prediction and a probability score in under 10 milliseconds. SHAP values are computed and packaged into the response. The UI renders the probability gauge, the verdict, and the top contributing features — giving the user a complete and explainable picture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BDFS is powered by a FastAPI backend — one of Python's fastest modern web frameworks, built on async I/O. The API exposes a clean set of endpoints: a health check, a schema endpoint, a single-record prediction endpoint at /predict, and a batch processing endpoint at /predict/batch for high-throughput use cases. Every input is validated by Pydantic before it ever reaches the model — invalid or out-of-range values are rejected with a structured error response. The output always includes the predicted class, the probability score, and a list of SHAP feature contributions. This makes the API not just a prediction engine, but a full explainability service. The Swagger documentation, visible on the right, is auto-generated and provides a live interactive testing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BROWSER] Now let's see BDFS in action. I'm going to open the live web application. [Open browser to localhost or hosted URL.] The interface has two modes — Simple and Expert. I'll start in Simple mode to show how intuitive the controls are. [Click 'Load Fatigued Profile.'] This loads a pre-set example of a highly fatigued user. Notice the gauge immediately jumps to 87% probability, the verdict reads 'FATIGUED', and the top contributing features are highlighted. [Hover over a slider.] Tooltips explain exactly what each feature means in plain language. [Switch to Expert mode.] Expert mode reveals all four feature groups and the raw values. [Adjust rolling_incon_5 slider.] Watch the gauge respond instantly — this is a live API call every time you change a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BDFS frontend was designed with the end-user in mind, not just the engineer. The dark glassmorphic interface is intentionally premium — it signals seriousness while remaining visually clean. The 19 input features are organized into four logical groups: Reaction Time, Choice Behavior, DDM Parameters, and Session Context. A Simple-to-Expert mode toggle hides advanced cognitive parameters from users who don't need them, while expert users can access the full feature set. The real-time probability gauge animates smoothly with each input change, providing immediate visual feedback. Below the verdict, three horizontal bars display the top SHAP contributions — color-coded red for fatigue-promoting features and green for protective ones. This design was deliberately chosen to make the model's reasoning legible to a non-technical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scientifically interesting findings of the entire project. When we applied SHAP analysis to our XGBoost model, we expected the cognitive DDM parameters — drift rate, boundary, non-decision time — to dominate. After all, these are derived from a well-validated psychological model. But the data told a different story. The two most impactful features are rolling_incon_5 and rolling_incon_10 — measures of how inconsistently a person has been choosing over their last 5 and 10 trials. These temporal inconsistency metrics carry more predictive weight than any static cognitive metric. This is actually a profound insight: fatigue doesn't show up in a single moment; it shows up in the accumulation of erratic behavior over time. The ablation study confirms this — removing DDM features costs almost nothing, but removing temporal features drops AUC by over 4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research prototype is one thing; building a system that actually works correctly under production conditions is another challenge entirely. The most critical technical issue we encountered was a scaling mismatch. During development, we accidentally re-fit the StandardScaler on each inference request, which meant the production transform was different from the training transform — resulting in completely wrong predictions. We resolved this by serializing the fitted scaler object with joblib at the end of training, then loading it once at API startup. A second challenge was UX design: presenting 19 technical parameters to a non-expert user. Our solution — the Simple/Expert mode toggle with human-readable labels — reduced onboarding friction significantly. Finally, class imbalance was addressed through weighted loss functions rather than resampling, which proved more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BDFS in its current form is a proof-of-concept with strong validation results. But the full vision is much broader. In the short term, we plan to extend the input channel to passive telemetry — keystroke dynamics, mouse movement patterns — data that is collected invisibly in the background of any computer-based work. In the medium term, webcam-based eye-tracking and session-level baseline profiling would allow the system to adapt to each individual user's normal performance envelope, dramatically reducing false positives. Long-term, we envision conducting formal clinical pilots in real healthcare and aviation environments, and exploring multi-modal fusion models that combine behavioral data with physiological signals. Federated learning would allow model improvement without centralizing sensitive user data — a critical requirement for clinical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BDFS demonstrates that real-time, non-intrusive cognitive fatigue detection is not only possible, but achievable with high accuracy using purely behavioral signals. Our XGBoost model achieves a ROC-AUC of 0.967 and an F1-Score of 0.866. The full system — a FastAPI backend, a SHAP explainability layer, and a premium web UI — is fully integrated and production-ready. The key scientific insight is that temporal choice inconsistency is the dominant fatigue signal, not static cognitive measurements. Before we open the floor, we want to take a moment to sincerely thank our advisor, Asst. Prof. Dr. Denizhan Demirkol, for his invaluable guidance, his detailed feedback on our methodology, and his belief in the project throughout. This work would not have reached this quality without his mentorship. We're now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C6FF"/>
          </a:solidFill>
          <a:ln w="12700">
            <a:solidFill>
              <a:srgbClr val="00C6FF"/>
            </a:solidFill>
            <a:prstDash val="solid"/>
          </a:ln>
        </p:spPr>
      </p:sp>
      <p:sp>
        <p:nvSpPr>
          <p:cNvPr id="3" name="Shape 1"/>
          <p:cNvSpPr/>
          <p:nvPr/>
        </p:nvSpPr>
        <p:spPr>
          <a:xfrm>
            <a:off x="5943600" y="-1371600"/>
            <a:ext cx="4572000" cy="4572000"/>
          </a:xfrm>
          <a:prstGeom prst="ellipse">
            <a:avLst/>
          </a:prstGeom>
          <a:solidFill>
            <a:srgbClr val="00C6FF">
              <a:alpha val="8000"/>
            </a:srgbClr>
          </a:solidFill>
          <a:ln w="12700">
            <a:solidFill>
              <a:srgbClr val="00C6FF">
                <a:alpha val="15000"/>
              </a:srgbClr>
            </a:solidFill>
            <a:prstDash val="solid"/>
          </a:ln>
        </p:spPr>
      </p:sp>
      <p:sp>
        <p:nvSpPr>
          <p:cNvPr id="4" name="Shape 2"/>
          <p:cNvSpPr/>
          <p:nvPr/>
        </p:nvSpPr>
        <p:spPr>
          <a:xfrm>
            <a:off x="6583680" y="-731520"/>
            <a:ext cx="3200400" cy="3200400"/>
          </a:xfrm>
          <a:prstGeom prst="ellipse">
            <a:avLst/>
          </a:prstGeom>
          <a:solidFill>
            <a:srgbClr val="00C6FF">
              <a:alpha val="5000"/>
            </a:srgbClr>
          </a:solidFill>
          <a:ln w="6350">
            <a:solidFill>
              <a:srgbClr val="00C6FF">
                <a:alpha val="20000"/>
              </a:srgbClr>
            </a:solidFill>
            <a:prstDash val="solid"/>
          </a:ln>
        </p:spPr>
      </p:sp>
      <p:sp>
        <p:nvSpPr>
          <p:cNvPr id="5" name="Text 3"/>
          <p:cNvSpPr/>
          <p:nvPr/>
        </p:nvSpPr>
        <p:spPr>
          <a:xfrm>
            <a:off x="411480" y="548640"/>
            <a:ext cx="8229600" cy="1371600"/>
          </a:xfrm>
          <a:prstGeom prst="rect">
            <a:avLst/>
          </a:prstGeom>
          <a:noFill/>
          <a:ln/>
        </p:spPr>
        <p:txBody>
          <a:bodyPr wrap="square" lIns="0" tIns="0" rIns="0" bIns="0"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BDFS</a:t>
            </a:r>
            <a:endParaRPr lang="en-US" sz="7200" dirty="0"/>
          </a:p>
        </p:txBody>
      </p:sp>
      <p:sp>
        <p:nvSpPr>
          <p:cNvPr id="6" name="Text 4"/>
          <p:cNvSpPr/>
          <p:nvPr/>
        </p:nvSpPr>
        <p:spPr>
          <a:xfrm>
            <a:off x="411480" y="1783080"/>
            <a:ext cx="6858000" cy="457200"/>
          </a:xfrm>
          <a:prstGeom prst="rect">
            <a:avLst/>
          </a:prstGeom>
          <a:noFill/>
          <a:ln/>
        </p:spPr>
        <p:txBody>
          <a:bodyPr wrap="square" lIns="0" tIns="0" rIns="0" bIns="0" rtlCol="0" anchor="ctr"/>
          <a:lstStyle/>
          <a:p>
            <a:pPr indent="0" marL="0">
              <a:buNone/>
            </a:pPr>
            <a:r>
              <a:rPr lang="en-US" sz="2000" i="1" dirty="0">
                <a:solidFill>
                  <a:srgbClr val="00C6FF"/>
                </a:solidFill>
                <a:latin typeface="Calibri" pitchFamily="34" charset="0"/>
                <a:ea typeface="Calibri" pitchFamily="34" charset="-122"/>
                <a:cs typeface="Calibri" pitchFamily="34" charset="-120"/>
              </a:rPr>
              <a:t>Behavioral Decision Fatigue Scoring</a:t>
            </a:r>
            <a:endParaRPr lang="en-US" sz="2000" dirty="0"/>
          </a:p>
        </p:txBody>
      </p:sp>
      <p:sp>
        <p:nvSpPr>
          <p:cNvPr id="7" name="Shape 5"/>
          <p:cNvSpPr/>
          <p:nvPr/>
        </p:nvSpPr>
        <p:spPr>
          <a:xfrm>
            <a:off x="411480" y="2377440"/>
            <a:ext cx="5486400" cy="0"/>
          </a:xfrm>
          <a:prstGeom prst="line">
            <a:avLst/>
          </a:prstGeom>
          <a:noFill/>
          <a:ln w="19050">
            <a:solidFill>
              <a:srgbClr val="1E4976"/>
            </a:solidFill>
            <a:prstDash val="solid"/>
          </a:ln>
        </p:spPr>
      </p:sp>
      <p:sp>
        <p:nvSpPr>
          <p:cNvPr id="8" name="Text 6"/>
          <p:cNvSpPr/>
          <p:nvPr/>
        </p:nvSpPr>
        <p:spPr>
          <a:xfrm>
            <a:off x="411480" y="2514600"/>
            <a:ext cx="7772400" cy="731520"/>
          </a:xfrm>
          <a:prstGeom prst="rect">
            <a:avLst/>
          </a:prstGeom>
          <a:noFill/>
          <a:ln/>
        </p:spPr>
        <p:txBody>
          <a:bodyPr wrap="square" lIns="0" tIns="0" rIns="0" bIns="0" rtlCol="0" anchor="ctr"/>
          <a:lstStyle/>
          <a:p>
            <a:pPr indent="0" marL="0">
              <a:buNone/>
            </a:pPr>
            <a:r>
              <a:rPr lang="en-US" sz="1500" dirty="0">
                <a:solidFill>
                  <a:srgbClr val="E8EFF6"/>
                </a:solidFill>
                <a:latin typeface="Calibri" pitchFamily="34" charset="0"/>
                <a:ea typeface="Calibri" pitchFamily="34" charset="-122"/>
                <a:cs typeface="Calibri" pitchFamily="34" charset="-120"/>
              </a:rPr>
              <a:t>Real-Time Cognitive Fatigue Detection Through Behavioral Machine Learning</a:t>
            </a:r>
            <a:endParaRPr lang="en-US" sz="1500" dirty="0"/>
          </a:p>
        </p:txBody>
      </p:sp>
      <p:sp>
        <p:nvSpPr>
          <p:cNvPr id="9" name="Text 7"/>
          <p:cNvSpPr/>
          <p:nvPr/>
        </p:nvSpPr>
        <p:spPr>
          <a:xfrm>
            <a:off x="411480" y="3429000"/>
            <a:ext cx="82296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Alperen Sümeroğlu</a:t>
            </a:r>
            <a:pPr indent="0" marL="0">
              <a:buNone/>
            </a:pPr>
            <a:r>
              <a:rPr lang="en-US" sz="1300" dirty="0">
                <a:solidFill>
                  <a:srgbClr val="8BAABF"/>
                </a:solidFill>
                <a:latin typeface="Calibri" pitchFamily="34" charset="0"/>
                <a:ea typeface="Calibri" pitchFamily="34" charset="-122"/>
                <a:cs typeface="Calibri" pitchFamily="34" charset="-120"/>
              </a:rPr>
              <a:t>  ·  231805023</a:t>
            </a:r>
            <a:endParaRPr lang="en-US" sz="1300" dirty="0"/>
          </a:p>
        </p:txBody>
      </p:sp>
      <p:sp>
        <p:nvSpPr>
          <p:cNvPr id="10" name="Text 8"/>
          <p:cNvSpPr/>
          <p:nvPr/>
        </p:nvSpPr>
        <p:spPr>
          <a:xfrm>
            <a:off x="411480" y="3749040"/>
            <a:ext cx="82296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Zeynalabidin Ramazanzade</a:t>
            </a:r>
            <a:pPr indent="0" marL="0">
              <a:buNone/>
            </a:pPr>
            <a:r>
              <a:rPr lang="en-US" sz="1300" dirty="0">
                <a:solidFill>
                  <a:srgbClr val="8BAABF"/>
                </a:solidFill>
                <a:latin typeface="Calibri" pitchFamily="34" charset="0"/>
                <a:ea typeface="Calibri" pitchFamily="34" charset="-122"/>
                <a:cs typeface="Calibri" pitchFamily="34" charset="-120"/>
              </a:rPr>
              <a:t>  ·  231805121</a:t>
            </a:r>
            <a:endParaRPr lang="en-US" sz="1300" dirty="0"/>
          </a:p>
        </p:txBody>
      </p:sp>
      <p:sp>
        <p:nvSpPr>
          <p:cNvPr id="11" name="Shape 9"/>
          <p:cNvSpPr/>
          <p:nvPr/>
        </p:nvSpPr>
        <p:spPr>
          <a:xfrm>
            <a:off x="6400800" y="4526280"/>
            <a:ext cx="777240" cy="274320"/>
          </a:xfrm>
          <a:prstGeom prst="roundRect">
            <a:avLst>
              <a:gd name="adj" fmla="val 20000"/>
            </a:avLst>
          </a:prstGeom>
          <a:solidFill>
            <a:srgbClr val="1A3A5C"/>
          </a:solidFill>
          <a:ln w="6350">
            <a:solidFill>
              <a:srgbClr val="00C6FF"/>
            </a:solidFill>
            <a:prstDash val="solid"/>
          </a:ln>
        </p:spPr>
      </p:sp>
      <p:sp>
        <p:nvSpPr>
          <p:cNvPr id="12" name="Text 10"/>
          <p:cNvSpPr/>
          <p:nvPr/>
        </p:nvSpPr>
        <p:spPr>
          <a:xfrm>
            <a:off x="6400800" y="4526280"/>
            <a:ext cx="777240" cy="274320"/>
          </a:xfrm>
          <a:prstGeom prst="rect">
            <a:avLst/>
          </a:prstGeom>
          <a:noFill/>
          <a:ln/>
        </p:spPr>
        <p:txBody>
          <a:bodyPr wrap="square" lIns="0" tIns="0" rIns="0" bIns="0" rtlCol="0" anchor="ctr"/>
          <a:lstStyle/>
          <a:p>
            <a:pPr algn="ctr" indent="0" marL="0">
              <a:buNone/>
            </a:pPr>
            <a:r>
              <a:rPr lang="en-US" sz="850" dirty="0">
                <a:solidFill>
                  <a:srgbClr val="00C6FF"/>
                </a:solidFill>
                <a:latin typeface="Calibri" pitchFamily="34" charset="0"/>
                <a:ea typeface="Calibri" pitchFamily="34" charset="-122"/>
                <a:cs typeface="Calibri" pitchFamily="34" charset="-120"/>
              </a:rPr>
              <a:t>XGBoost</a:t>
            </a:r>
            <a:endParaRPr lang="en-US" sz="850" dirty="0"/>
          </a:p>
        </p:txBody>
      </p:sp>
      <p:sp>
        <p:nvSpPr>
          <p:cNvPr id="13" name="Shape 11"/>
          <p:cNvSpPr/>
          <p:nvPr/>
        </p:nvSpPr>
        <p:spPr>
          <a:xfrm>
            <a:off x="7315200" y="4526280"/>
            <a:ext cx="777240" cy="274320"/>
          </a:xfrm>
          <a:prstGeom prst="roundRect">
            <a:avLst>
              <a:gd name="adj" fmla="val 20000"/>
            </a:avLst>
          </a:prstGeom>
          <a:solidFill>
            <a:srgbClr val="1A3A5C"/>
          </a:solidFill>
          <a:ln w="6350">
            <a:solidFill>
              <a:srgbClr val="00C6FF"/>
            </a:solidFill>
            <a:prstDash val="solid"/>
          </a:ln>
        </p:spPr>
      </p:sp>
      <p:sp>
        <p:nvSpPr>
          <p:cNvPr id="14" name="Text 12"/>
          <p:cNvSpPr/>
          <p:nvPr/>
        </p:nvSpPr>
        <p:spPr>
          <a:xfrm>
            <a:off x="7315200" y="4526280"/>
            <a:ext cx="777240" cy="274320"/>
          </a:xfrm>
          <a:prstGeom prst="rect">
            <a:avLst/>
          </a:prstGeom>
          <a:noFill/>
          <a:ln/>
        </p:spPr>
        <p:txBody>
          <a:bodyPr wrap="square" lIns="0" tIns="0" rIns="0" bIns="0" rtlCol="0" anchor="ctr"/>
          <a:lstStyle/>
          <a:p>
            <a:pPr algn="ctr" indent="0" marL="0">
              <a:buNone/>
            </a:pPr>
            <a:r>
              <a:rPr lang="en-US" sz="850" dirty="0">
                <a:solidFill>
                  <a:srgbClr val="00C6FF"/>
                </a:solidFill>
                <a:latin typeface="Calibri" pitchFamily="34" charset="0"/>
                <a:ea typeface="Calibri" pitchFamily="34" charset="-122"/>
                <a:cs typeface="Calibri" pitchFamily="34" charset="-120"/>
              </a:rPr>
              <a:t>FastAPI</a:t>
            </a:r>
            <a:endParaRPr lang="en-US" sz="850" dirty="0"/>
          </a:p>
        </p:txBody>
      </p:sp>
      <p:sp>
        <p:nvSpPr>
          <p:cNvPr id="15" name="Shape 13"/>
          <p:cNvSpPr/>
          <p:nvPr/>
        </p:nvSpPr>
        <p:spPr>
          <a:xfrm>
            <a:off x="8229600" y="4526280"/>
            <a:ext cx="777240" cy="274320"/>
          </a:xfrm>
          <a:prstGeom prst="roundRect">
            <a:avLst>
              <a:gd name="adj" fmla="val 20000"/>
            </a:avLst>
          </a:prstGeom>
          <a:solidFill>
            <a:srgbClr val="1A3A5C"/>
          </a:solidFill>
          <a:ln w="6350">
            <a:solidFill>
              <a:srgbClr val="00C6FF"/>
            </a:solidFill>
            <a:prstDash val="solid"/>
          </a:ln>
        </p:spPr>
      </p:sp>
      <p:sp>
        <p:nvSpPr>
          <p:cNvPr id="16" name="Text 14"/>
          <p:cNvSpPr/>
          <p:nvPr/>
        </p:nvSpPr>
        <p:spPr>
          <a:xfrm>
            <a:off x="8229600" y="4526280"/>
            <a:ext cx="777240" cy="274320"/>
          </a:xfrm>
          <a:prstGeom prst="rect">
            <a:avLst/>
          </a:prstGeom>
          <a:noFill/>
          <a:ln/>
        </p:spPr>
        <p:txBody>
          <a:bodyPr wrap="square" lIns="0" tIns="0" rIns="0" bIns="0" rtlCol="0" anchor="ctr"/>
          <a:lstStyle/>
          <a:p>
            <a:pPr algn="ctr" indent="0" marL="0">
              <a:buNone/>
            </a:pPr>
            <a:r>
              <a:rPr lang="en-US" sz="850" dirty="0">
                <a:solidFill>
                  <a:srgbClr val="00C6FF"/>
                </a:solidFill>
                <a:latin typeface="Calibri" pitchFamily="34" charset="0"/>
                <a:ea typeface="Calibri" pitchFamily="34" charset="-122"/>
                <a:cs typeface="Calibri" pitchFamily="34" charset="-120"/>
              </a:rPr>
              <a:t>SHAP</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6B6B"/>
          </a:solidFill>
          <a:ln w="12700">
            <a:solidFill>
              <a:srgbClr val="FF6B6B"/>
            </a:solidFill>
            <a:prstDash val="solid"/>
          </a:ln>
        </p:spPr>
      </p:sp>
      <p:sp>
        <p:nvSpPr>
          <p:cNvPr id="3" name="Text 1"/>
          <p:cNvSpPr/>
          <p:nvPr/>
        </p:nvSpPr>
        <p:spPr>
          <a:xfrm>
            <a:off x="411480" y="256032"/>
            <a:ext cx="8229600" cy="502920"/>
          </a:xfrm>
          <a:prstGeom prst="rect">
            <a:avLst/>
          </a:prstGeom>
          <a:noFill/>
          <a:ln/>
        </p:spPr>
        <p:txBody>
          <a:bodyPr wrap="square" lIns="0" tIns="0" rIns="0" bIns="0" rtlCol="0" anchor="ctr"/>
          <a:lstStyle/>
          <a:p>
            <a:pPr indent="0" marL="0">
              <a:buNone/>
            </a:pPr>
            <a:r>
              <a:rPr lang="en-US" sz="2800" b="1" spc="200" kern="0" dirty="0">
                <a:solidFill>
                  <a:srgbClr val="FFFFFF"/>
                </a:solidFill>
                <a:latin typeface="Calibri" pitchFamily="34" charset="0"/>
                <a:ea typeface="Calibri" pitchFamily="34" charset="-122"/>
                <a:cs typeface="Calibri" pitchFamily="34" charset="-120"/>
              </a:rPr>
              <a:t>THE INVISIBLE THREAT</a:t>
            </a:r>
            <a:endParaRPr lang="en-US" sz="2800" dirty="0"/>
          </a:p>
        </p:txBody>
      </p:sp>
      <p:sp>
        <p:nvSpPr>
          <p:cNvPr id="4" name="Text 2"/>
          <p:cNvSpPr/>
          <p:nvPr/>
        </p:nvSpPr>
        <p:spPr>
          <a:xfrm>
            <a:off x="411480" y="758952"/>
            <a:ext cx="4572000" cy="274320"/>
          </a:xfrm>
          <a:prstGeom prst="rect">
            <a:avLst/>
          </a:prstGeom>
          <a:noFill/>
          <a:ln/>
        </p:spPr>
        <p:txBody>
          <a:bodyPr wrap="square" lIns="0" tIns="0" rIns="0" bIns="0" rtlCol="0" anchor="ctr"/>
          <a:lstStyle/>
          <a:p>
            <a:pPr indent="0" marL="0">
              <a:buNone/>
            </a:pPr>
            <a:r>
              <a:rPr lang="en-US" sz="1200" i="1" dirty="0">
                <a:solidFill>
                  <a:srgbClr val="8BAABF"/>
                </a:solidFill>
                <a:latin typeface="Calibri" pitchFamily="34" charset="0"/>
                <a:ea typeface="Calibri" pitchFamily="34" charset="-122"/>
                <a:cs typeface="Calibri" pitchFamily="34" charset="-120"/>
              </a:rPr>
              <a:t>Problem Statement</a:t>
            </a:r>
            <a:endParaRPr lang="en-US" sz="1200" dirty="0"/>
          </a:p>
        </p:txBody>
      </p:sp>
      <p:sp>
        <p:nvSpPr>
          <p:cNvPr id="5" name="Shape 3"/>
          <p:cNvSpPr/>
          <p:nvPr/>
        </p:nvSpPr>
        <p:spPr>
          <a:xfrm>
            <a:off x="411480" y="1188720"/>
            <a:ext cx="2651760" cy="146304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sp>
        <p:nvSpPr>
          <p:cNvPr id="6" name="Text 4"/>
          <p:cNvSpPr/>
          <p:nvPr/>
        </p:nvSpPr>
        <p:spPr>
          <a:xfrm>
            <a:off x="411480" y="1234440"/>
            <a:ext cx="2651760" cy="685800"/>
          </a:xfrm>
          <a:prstGeom prst="rect">
            <a:avLst/>
          </a:prstGeom>
          <a:noFill/>
          <a:ln/>
        </p:spPr>
        <p:txBody>
          <a:bodyPr wrap="square" lIns="0" tIns="0" rIns="0" bIns="0" rtlCol="0" anchor="ctr"/>
          <a:lstStyle/>
          <a:p>
            <a:pPr algn="ctr" indent="0" marL="0">
              <a:buNone/>
            </a:pPr>
            <a:r>
              <a:rPr lang="en-US" sz="4000" b="1" dirty="0">
                <a:solidFill>
                  <a:srgbClr val="FF6B6B"/>
                </a:solidFill>
                <a:latin typeface="Calibri" pitchFamily="34" charset="0"/>
                <a:ea typeface="Calibri" pitchFamily="34" charset="-122"/>
                <a:cs typeface="Calibri" pitchFamily="34" charset="-120"/>
              </a:rPr>
              <a:t>70%</a:t>
            </a:r>
            <a:endParaRPr lang="en-US" sz="4000" dirty="0"/>
          </a:p>
        </p:txBody>
      </p:sp>
      <p:sp>
        <p:nvSpPr>
          <p:cNvPr id="7" name="Text 5"/>
          <p:cNvSpPr/>
          <p:nvPr/>
        </p:nvSpPr>
        <p:spPr>
          <a:xfrm>
            <a:off x="411480" y="1920240"/>
            <a:ext cx="26517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of critical errors</a:t>
            </a:r>
            <a:endParaRPr lang="en-US" sz="1200" dirty="0"/>
          </a:p>
        </p:txBody>
      </p:sp>
      <p:sp>
        <p:nvSpPr>
          <p:cNvPr id="8" name="Text 6"/>
          <p:cNvSpPr/>
          <p:nvPr/>
        </p:nvSpPr>
        <p:spPr>
          <a:xfrm>
            <a:off x="411480" y="2221992"/>
            <a:ext cx="2651760" cy="320040"/>
          </a:xfrm>
          <a:prstGeom prst="rect">
            <a:avLst/>
          </a:prstGeom>
          <a:noFill/>
          <a:ln/>
        </p:spPr>
        <p:txBody>
          <a:bodyPr wrap="square" lIns="0" tIns="0" rIns="0" bIns="0" rtlCol="0" anchor="ctr"/>
          <a:lstStyle/>
          <a:p>
            <a:pPr algn="ctr" indent="0" marL="0">
              <a:buNone/>
            </a:pPr>
            <a:r>
              <a:rPr lang="en-US" sz="1000" dirty="0">
                <a:solidFill>
                  <a:srgbClr val="8BAABF"/>
                </a:solidFill>
                <a:latin typeface="Calibri" pitchFamily="34" charset="0"/>
                <a:ea typeface="Calibri" pitchFamily="34" charset="-122"/>
                <a:cs typeface="Calibri" pitchFamily="34" charset="-120"/>
              </a:rPr>
              <a:t>linked to cognitive fatigue</a:t>
            </a:r>
            <a:endParaRPr lang="en-US" sz="1000" dirty="0"/>
          </a:p>
        </p:txBody>
      </p:sp>
      <p:sp>
        <p:nvSpPr>
          <p:cNvPr id="9" name="Shape 7"/>
          <p:cNvSpPr/>
          <p:nvPr/>
        </p:nvSpPr>
        <p:spPr>
          <a:xfrm>
            <a:off x="3291840" y="1188720"/>
            <a:ext cx="2651760" cy="146304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sp>
        <p:nvSpPr>
          <p:cNvPr id="10" name="Text 8"/>
          <p:cNvSpPr/>
          <p:nvPr/>
        </p:nvSpPr>
        <p:spPr>
          <a:xfrm>
            <a:off x="3291840" y="1234440"/>
            <a:ext cx="2651760" cy="685800"/>
          </a:xfrm>
          <a:prstGeom prst="rect">
            <a:avLst/>
          </a:prstGeom>
          <a:noFill/>
          <a:ln/>
        </p:spPr>
        <p:txBody>
          <a:bodyPr wrap="square" lIns="0" tIns="0" rIns="0" bIns="0" rtlCol="0" anchor="ctr"/>
          <a:lstStyle/>
          <a:p>
            <a:pPr algn="ctr" indent="0" marL="0">
              <a:buNone/>
            </a:pPr>
            <a:r>
              <a:rPr lang="en-US" sz="4000" b="1" dirty="0">
                <a:solidFill>
                  <a:srgbClr val="FF6B6B"/>
                </a:solidFill>
                <a:latin typeface="Calibri" pitchFamily="34" charset="0"/>
                <a:ea typeface="Calibri" pitchFamily="34" charset="-122"/>
                <a:cs typeface="Calibri" pitchFamily="34" charset="-120"/>
              </a:rPr>
              <a:t>0</a:t>
            </a:r>
            <a:endParaRPr lang="en-US" sz="4000" dirty="0"/>
          </a:p>
        </p:txBody>
      </p:sp>
      <p:sp>
        <p:nvSpPr>
          <p:cNvPr id="11" name="Text 9"/>
          <p:cNvSpPr/>
          <p:nvPr/>
        </p:nvSpPr>
        <p:spPr>
          <a:xfrm>
            <a:off x="3291840" y="1920240"/>
            <a:ext cx="26517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Real-time tools</a:t>
            </a:r>
            <a:endParaRPr lang="en-US" sz="1200" dirty="0"/>
          </a:p>
        </p:txBody>
      </p:sp>
      <p:sp>
        <p:nvSpPr>
          <p:cNvPr id="12" name="Text 10"/>
          <p:cNvSpPr/>
          <p:nvPr/>
        </p:nvSpPr>
        <p:spPr>
          <a:xfrm>
            <a:off x="3291840" y="2221992"/>
            <a:ext cx="2651760" cy="320040"/>
          </a:xfrm>
          <a:prstGeom prst="rect">
            <a:avLst/>
          </a:prstGeom>
          <a:noFill/>
          <a:ln/>
        </p:spPr>
        <p:txBody>
          <a:bodyPr wrap="square" lIns="0" tIns="0" rIns="0" bIns="0" rtlCol="0" anchor="ctr"/>
          <a:lstStyle/>
          <a:p>
            <a:pPr algn="ctr" indent="0" marL="0">
              <a:buNone/>
            </a:pPr>
            <a:r>
              <a:rPr lang="en-US" sz="1000" dirty="0">
                <a:solidFill>
                  <a:srgbClr val="8BAABF"/>
                </a:solidFill>
                <a:latin typeface="Calibri" pitchFamily="34" charset="0"/>
                <a:ea typeface="Calibri" pitchFamily="34" charset="-122"/>
                <a:cs typeface="Calibri" pitchFamily="34" charset="-120"/>
              </a:rPr>
              <a:t>non-intrusive &amp; scalable</a:t>
            </a:r>
            <a:endParaRPr lang="en-US" sz="1000" dirty="0"/>
          </a:p>
        </p:txBody>
      </p:sp>
      <p:sp>
        <p:nvSpPr>
          <p:cNvPr id="13" name="Shape 11"/>
          <p:cNvSpPr/>
          <p:nvPr/>
        </p:nvSpPr>
        <p:spPr>
          <a:xfrm>
            <a:off x="6172200" y="1188720"/>
            <a:ext cx="2651760" cy="146304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sp>
        <p:nvSpPr>
          <p:cNvPr id="14" name="Text 12"/>
          <p:cNvSpPr/>
          <p:nvPr/>
        </p:nvSpPr>
        <p:spPr>
          <a:xfrm>
            <a:off x="6172200" y="1234440"/>
            <a:ext cx="2651760" cy="685800"/>
          </a:xfrm>
          <a:prstGeom prst="rect">
            <a:avLst/>
          </a:prstGeom>
          <a:noFill/>
          <a:ln/>
        </p:spPr>
        <p:txBody>
          <a:bodyPr wrap="square" lIns="0" tIns="0" rIns="0" bIns="0" rtlCol="0" anchor="ctr"/>
          <a:lstStyle/>
          <a:p>
            <a:pPr algn="ctr" indent="0" marL="0">
              <a:buNone/>
            </a:pPr>
            <a:r>
              <a:rPr lang="en-US" sz="4000" b="1" dirty="0">
                <a:solidFill>
                  <a:srgbClr val="FF6B6B"/>
                </a:solidFill>
                <a:latin typeface="Calibri" pitchFamily="34" charset="0"/>
                <a:ea typeface="Calibri" pitchFamily="34" charset="-122"/>
                <a:cs typeface="Calibri" pitchFamily="34" charset="-120"/>
              </a:rPr>
              <a:t>∞</a:t>
            </a:r>
            <a:endParaRPr lang="en-US" sz="4000" dirty="0"/>
          </a:p>
        </p:txBody>
      </p:sp>
      <p:sp>
        <p:nvSpPr>
          <p:cNvPr id="15" name="Text 13"/>
          <p:cNvSpPr/>
          <p:nvPr/>
        </p:nvSpPr>
        <p:spPr>
          <a:xfrm>
            <a:off x="6172200" y="1920240"/>
            <a:ext cx="26517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Surveys &amp; sensors</a:t>
            </a:r>
            <a:endParaRPr lang="en-US" sz="1200" dirty="0"/>
          </a:p>
        </p:txBody>
      </p:sp>
      <p:sp>
        <p:nvSpPr>
          <p:cNvPr id="16" name="Text 14"/>
          <p:cNvSpPr/>
          <p:nvPr/>
        </p:nvSpPr>
        <p:spPr>
          <a:xfrm>
            <a:off x="6172200" y="2221992"/>
            <a:ext cx="2651760" cy="320040"/>
          </a:xfrm>
          <a:prstGeom prst="rect">
            <a:avLst/>
          </a:prstGeom>
          <a:noFill/>
          <a:ln/>
        </p:spPr>
        <p:txBody>
          <a:bodyPr wrap="square" lIns="0" tIns="0" rIns="0" bIns="0" rtlCol="0" anchor="ctr"/>
          <a:lstStyle/>
          <a:p>
            <a:pPr algn="ctr" indent="0" marL="0">
              <a:buNone/>
            </a:pPr>
            <a:r>
              <a:rPr lang="en-US" sz="1000" dirty="0">
                <a:solidFill>
                  <a:srgbClr val="8BAABF"/>
                </a:solidFill>
                <a:latin typeface="Calibri" pitchFamily="34" charset="0"/>
                <a:ea typeface="Calibri" pitchFamily="34" charset="-122"/>
                <a:cs typeface="Calibri" pitchFamily="34" charset="-120"/>
              </a:rPr>
              <a:t>disruptive, biased, delayed</a:t>
            </a:r>
            <a:endParaRPr lang="en-US" sz="1000" dirty="0"/>
          </a:p>
        </p:txBody>
      </p:sp>
      <p:sp>
        <p:nvSpPr>
          <p:cNvPr id="17" name="Text 15"/>
          <p:cNvSpPr/>
          <p:nvPr/>
        </p:nvSpPr>
        <p:spPr>
          <a:xfrm>
            <a:off x="411480" y="2834640"/>
            <a:ext cx="8321040" cy="1920240"/>
          </a:xfrm>
          <a:prstGeom prst="rect">
            <a:avLst/>
          </a:prstGeom>
          <a:noFill/>
          <a:ln/>
        </p:spPr>
        <p:txBody>
          <a:bodyPr wrap="square" lIns="0" tIns="0" rIns="0" bIns="0" rtlCol="0" anchor="t"/>
          <a:lstStyle/>
          <a:p>
            <a:pPr indent="0" marL="0">
              <a:buNone/>
            </a:pPr>
            <a:r>
              <a:rPr lang="en-US" sz="1300" b="1" dirty="0">
                <a:solidFill>
                  <a:srgbClr val="FF6B6B"/>
                </a:solidFill>
                <a:latin typeface="Calibri" pitchFamily="34" charset="0"/>
                <a:ea typeface="Calibri" pitchFamily="34" charset="-122"/>
                <a:cs typeface="Calibri" pitchFamily="34" charset="-120"/>
              </a:rPr>
              <a:t>01  </a:t>
            </a:r>
            <a:pPr indent="0" marL="0">
              <a:buNone/>
            </a:pPr>
            <a:r>
              <a:rPr lang="en-US" sz="1300" dirty="0">
                <a:solidFill>
                  <a:srgbClr val="E8EFF6"/>
                </a:solidFill>
                <a:latin typeface="Calibri" pitchFamily="34" charset="0"/>
                <a:ea typeface="Calibri" pitchFamily="34" charset="-122"/>
                <a:cs typeface="Calibri" pitchFamily="34" charset="-120"/>
              </a:rPr>
              <a:t>Decision fatigue silently degrades judgment accuracy — often unnoticed until a costly mistake occurs.
</a:t>
            </a:r>
            <a:pPr indent="0" marL="0">
              <a:buNone/>
            </a:pPr>
            <a:r>
              <a:rPr lang="en-US" sz="1300" b="1" dirty="0">
                <a:solidFill>
                  <a:srgbClr val="FF6B6B"/>
                </a:solidFill>
                <a:latin typeface="Calibri" pitchFamily="34" charset="0"/>
                <a:ea typeface="Calibri" pitchFamily="34" charset="-122"/>
                <a:cs typeface="Calibri" pitchFamily="34" charset="-120"/>
              </a:rPr>
              <a:t>02  </a:t>
            </a:r>
            <a:pPr indent="0" marL="0">
              <a:buNone/>
            </a:pPr>
            <a:r>
              <a:rPr lang="en-US" sz="1300" dirty="0">
                <a:solidFill>
                  <a:srgbClr val="E8EFF6"/>
                </a:solidFill>
                <a:latin typeface="Calibri" pitchFamily="34" charset="0"/>
                <a:ea typeface="Calibri" pitchFamily="34" charset="-122"/>
                <a:cs typeface="Calibri" pitchFamily="34" charset="-120"/>
              </a:rPr>
              <a:t>EEG headsets, biometric sensors, and manual surveys are impractical at scale and in real environments.
</a:t>
            </a:r>
            <a:pPr indent="0" marL="0">
              <a:buNone/>
            </a:pPr>
            <a:r>
              <a:rPr lang="en-US" sz="1300" b="1" dirty="0">
                <a:solidFill>
                  <a:srgbClr val="FF6B6B"/>
                </a:solidFill>
                <a:latin typeface="Calibri" pitchFamily="34" charset="0"/>
                <a:ea typeface="Calibri" pitchFamily="34" charset="-122"/>
                <a:cs typeface="Calibri" pitchFamily="34" charset="-120"/>
              </a:rPr>
              <a:t>03  </a:t>
            </a:r>
            <a:pPr indent="0" marL="0">
              <a:buNone/>
            </a:pPr>
            <a:r>
              <a:rPr lang="en-US" sz="1300" dirty="0">
                <a:solidFill>
                  <a:srgbClr val="E8EFF6"/>
                </a:solidFill>
                <a:latin typeface="Calibri" pitchFamily="34" charset="0"/>
                <a:ea typeface="Calibri" pitchFamily="34" charset="-122"/>
                <a:cs typeface="Calibri" pitchFamily="34" charset="-120"/>
              </a:rPr>
              <a:t>There is no current tool that detects fatigue passively, in real-time, from pure behavior alone.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B800"/>
          </a:solidFill>
          <a:ln w="12700">
            <a:solidFill>
              <a:srgbClr val="FFB800"/>
            </a:solidFill>
            <a:prstDash val="solid"/>
          </a:ln>
        </p:spPr>
      </p:sp>
      <p:sp>
        <p:nvSpPr>
          <p:cNvPr id="3" name="Text 1"/>
          <p:cNvSpPr/>
          <p:nvPr/>
        </p:nvSpPr>
        <p:spPr>
          <a:xfrm>
            <a:off x="411480" y="256032"/>
            <a:ext cx="8229600" cy="502920"/>
          </a:xfrm>
          <a:prstGeom prst="rect">
            <a:avLst/>
          </a:prstGeom>
          <a:noFill/>
          <a:ln/>
        </p:spPr>
        <p:txBody>
          <a:bodyPr wrap="square" lIns="0" tIns="0" rIns="0" bIns="0" rtlCol="0" anchor="ctr"/>
          <a:lstStyle/>
          <a:p>
            <a:pPr indent="0" marL="0">
              <a:buNone/>
            </a:pPr>
            <a:r>
              <a:rPr lang="en-US" sz="2800" b="1" spc="200" kern="0" dirty="0">
                <a:solidFill>
                  <a:srgbClr val="FFFFFF"/>
                </a:solidFill>
                <a:latin typeface="Calibri" pitchFamily="34" charset="0"/>
                <a:ea typeface="Calibri" pitchFamily="34" charset="-122"/>
                <a:cs typeface="Calibri" pitchFamily="34" charset="-120"/>
              </a:rPr>
              <a:t>WHY THIS MATTERS</a:t>
            </a:r>
            <a:endParaRPr lang="en-US" sz="2800" dirty="0"/>
          </a:p>
        </p:txBody>
      </p:sp>
      <p:sp>
        <p:nvSpPr>
          <p:cNvPr id="4" name="Text 2"/>
          <p:cNvSpPr/>
          <p:nvPr/>
        </p:nvSpPr>
        <p:spPr>
          <a:xfrm>
            <a:off x="411480" y="758952"/>
            <a:ext cx="4572000" cy="274320"/>
          </a:xfrm>
          <a:prstGeom prst="rect">
            <a:avLst/>
          </a:prstGeom>
          <a:noFill/>
          <a:ln/>
        </p:spPr>
        <p:txBody>
          <a:bodyPr wrap="square" lIns="0" tIns="0" rIns="0" bIns="0" rtlCol="0" anchor="ctr"/>
          <a:lstStyle/>
          <a:p>
            <a:pPr indent="0" marL="0">
              <a:buNone/>
            </a:pPr>
            <a:r>
              <a:rPr lang="en-US" sz="1200" i="1" dirty="0">
                <a:solidFill>
                  <a:srgbClr val="8BAABF"/>
                </a:solidFill>
                <a:latin typeface="Calibri" pitchFamily="34" charset="0"/>
                <a:ea typeface="Calibri" pitchFamily="34" charset="-122"/>
                <a:cs typeface="Calibri" pitchFamily="34" charset="-120"/>
              </a:rPr>
              <a:t>High-Stakes Impact</a:t>
            </a:r>
            <a:endParaRPr lang="en-US" sz="1200" dirty="0"/>
          </a:p>
        </p:txBody>
      </p:sp>
      <p:sp>
        <p:nvSpPr>
          <p:cNvPr id="5" name="Shape 3"/>
          <p:cNvSpPr/>
          <p:nvPr/>
        </p:nvSpPr>
        <p:spPr>
          <a:xfrm>
            <a:off x="411480" y="1188720"/>
            <a:ext cx="4023360" cy="150876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sp>
        <p:nvSpPr>
          <p:cNvPr id="6" name="Text 4"/>
          <p:cNvSpPr/>
          <p:nvPr/>
        </p:nvSpPr>
        <p:spPr>
          <a:xfrm>
            <a:off x="548640" y="1298448"/>
            <a:ext cx="3749040" cy="347472"/>
          </a:xfrm>
          <a:prstGeom prst="rect">
            <a:avLst/>
          </a:prstGeom>
          <a:noFill/>
          <a:ln/>
        </p:spPr>
        <p:txBody>
          <a:bodyPr wrap="square" lIns="0" tIns="0" rIns="0" bIns="0" rtlCol="0" anchor="ctr"/>
          <a:lstStyle/>
          <a:p>
            <a:pPr indent="0" marL="0">
              <a:buNone/>
            </a:pPr>
            <a:r>
              <a:rPr lang="en-US" sz="1500" b="1" dirty="0">
                <a:solidFill>
                  <a:srgbClr val="FFB800"/>
                </a:solidFill>
                <a:latin typeface="Calibri" pitchFamily="34" charset="0"/>
                <a:ea typeface="Calibri" pitchFamily="34" charset="-122"/>
                <a:cs typeface="Calibri" pitchFamily="34" charset="-120"/>
              </a:rPr>
              <a:t>🏥  Healthcare</a:t>
            </a:r>
            <a:endParaRPr lang="en-US" sz="1500" dirty="0"/>
          </a:p>
        </p:txBody>
      </p:sp>
      <p:sp>
        <p:nvSpPr>
          <p:cNvPr id="7" name="Text 5"/>
          <p:cNvSpPr/>
          <p:nvPr/>
        </p:nvSpPr>
        <p:spPr>
          <a:xfrm>
            <a:off x="548640" y="1664208"/>
            <a:ext cx="3749040" cy="914400"/>
          </a:xfrm>
          <a:prstGeom prst="rect">
            <a:avLst/>
          </a:prstGeom>
          <a:noFill/>
          <a:ln/>
        </p:spPr>
        <p:txBody>
          <a:bodyPr wrap="square" lIns="0" tIns="0" rIns="0" bIns="0" rtlCol="0" anchor="ctr"/>
          <a:lstStyle/>
          <a:p>
            <a:pPr indent="0" marL="0">
              <a:buNone/>
            </a:pPr>
            <a:r>
              <a:rPr lang="en-US" sz="1200" dirty="0">
                <a:solidFill>
                  <a:srgbClr val="E8EFF6"/>
                </a:solidFill>
                <a:latin typeface="Calibri" pitchFamily="34" charset="0"/>
                <a:ea typeface="Calibri" pitchFamily="34" charset="-122"/>
                <a:cs typeface="Calibri" pitchFamily="34" charset="-120"/>
              </a:rPr>
              <a:t>Surgical errors and clinical misjudgments spike during late-shift fatigue windows.</a:t>
            </a:r>
            <a:endParaRPr lang="en-US" sz="1200" dirty="0"/>
          </a:p>
        </p:txBody>
      </p:sp>
      <p:sp>
        <p:nvSpPr>
          <p:cNvPr id="8" name="Shape 6"/>
          <p:cNvSpPr/>
          <p:nvPr/>
        </p:nvSpPr>
        <p:spPr>
          <a:xfrm>
            <a:off x="4709160" y="1188720"/>
            <a:ext cx="4023360" cy="150876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sp>
        <p:nvSpPr>
          <p:cNvPr id="9" name="Text 7"/>
          <p:cNvSpPr/>
          <p:nvPr/>
        </p:nvSpPr>
        <p:spPr>
          <a:xfrm>
            <a:off x="4846320" y="1298448"/>
            <a:ext cx="3749040" cy="347472"/>
          </a:xfrm>
          <a:prstGeom prst="rect">
            <a:avLst/>
          </a:prstGeom>
          <a:noFill/>
          <a:ln/>
        </p:spPr>
        <p:txBody>
          <a:bodyPr wrap="square" lIns="0" tIns="0" rIns="0" bIns="0" rtlCol="0" anchor="ctr"/>
          <a:lstStyle/>
          <a:p>
            <a:pPr indent="0" marL="0">
              <a:buNone/>
            </a:pPr>
            <a:r>
              <a:rPr lang="en-US" sz="1500" b="1" dirty="0">
                <a:solidFill>
                  <a:srgbClr val="FFB800"/>
                </a:solidFill>
                <a:latin typeface="Calibri" pitchFamily="34" charset="0"/>
                <a:ea typeface="Calibri" pitchFamily="34" charset="-122"/>
                <a:cs typeface="Calibri" pitchFamily="34" charset="-120"/>
              </a:rPr>
              <a:t>✈️  Aviation</a:t>
            </a:r>
            <a:endParaRPr lang="en-US" sz="1500" dirty="0"/>
          </a:p>
        </p:txBody>
      </p:sp>
      <p:sp>
        <p:nvSpPr>
          <p:cNvPr id="10" name="Text 8"/>
          <p:cNvSpPr/>
          <p:nvPr/>
        </p:nvSpPr>
        <p:spPr>
          <a:xfrm>
            <a:off x="4846320" y="1664208"/>
            <a:ext cx="3749040" cy="914400"/>
          </a:xfrm>
          <a:prstGeom prst="rect">
            <a:avLst/>
          </a:prstGeom>
          <a:noFill/>
          <a:ln/>
        </p:spPr>
        <p:txBody>
          <a:bodyPr wrap="square" lIns="0" tIns="0" rIns="0" bIns="0" rtlCol="0" anchor="ctr"/>
          <a:lstStyle/>
          <a:p>
            <a:pPr indent="0" marL="0">
              <a:buNone/>
            </a:pPr>
            <a:r>
              <a:rPr lang="en-US" sz="1200" dirty="0">
                <a:solidFill>
                  <a:srgbClr val="E8EFF6"/>
                </a:solidFill>
                <a:latin typeface="Calibri" pitchFamily="34" charset="0"/>
                <a:ea typeface="Calibri" pitchFamily="34" charset="-122"/>
                <a:cs typeface="Calibri" pitchFamily="34" charset="-120"/>
              </a:rPr>
              <a:t>Pilot cognitive load is a primary cause of near-misses and landing errors worldwide.</a:t>
            </a:r>
            <a:endParaRPr lang="en-US" sz="1200" dirty="0"/>
          </a:p>
        </p:txBody>
      </p:sp>
      <p:sp>
        <p:nvSpPr>
          <p:cNvPr id="11" name="Shape 9"/>
          <p:cNvSpPr/>
          <p:nvPr/>
        </p:nvSpPr>
        <p:spPr>
          <a:xfrm>
            <a:off x="411480" y="2880360"/>
            <a:ext cx="4023360" cy="150876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sp>
        <p:nvSpPr>
          <p:cNvPr id="12" name="Text 10"/>
          <p:cNvSpPr/>
          <p:nvPr/>
        </p:nvSpPr>
        <p:spPr>
          <a:xfrm>
            <a:off x="548640" y="2990088"/>
            <a:ext cx="3749040" cy="347472"/>
          </a:xfrm>
          <a:prstGeom prst="rect">
            <a:avLst/>
          </a:prstGeom>
          <a:noFill/>
          <a:ln/>
        </p:spPr>
        <p:txBody>
          <a:bodyPr wrap="square" lIns="0" tIns="0" rIns="0" bIns="0" rtlCol="0" anchor="ctr"/>
          <a:lstStyle/>
          <a:p>
            <a:pPr indent="0" marL="0">
              <a:buNone/>
            </a:pPr>
            <a:r>
              <a:rPr lang="en-US" sz="1500" b="1" dirty="0">
                <a:solidFill>
                  <a:srgbClr val="FFB800"/>
                </a:solidFill>
                <a:latin typeface="Calibri" pitchFamily="34" charset="0"/>
                <a:ea typeface="Calibri" pitchFamily="34" charset="-122"/>
                <a:cs typeface="Calibri" pitchFamily="34" charset="-120"/>
              </a:rPr>
              <a:t>🚗  Transportation</a:t>
            </a:r>
            <a:endParaRPr lang="en-US" sz="1500" dirty="0"/>
          </a:p>
        </p:txBody>
      </p:sp>
      <p:sp>
        <p:nvSpPr>
          <p:cNvPr id="13" name="Text 11"/>
          <p:cNvSpPr/>
          <p:nvPr/>
        </p:nvSpPr>
        <p:spPr>
          <a:xfrm>
            <a:off x="548640" y="3355848"/>
            <a:ext cx="3749040" cy="914400"/>
          </a:xfrm>
          <a:prstGeom prst="rect">
            <a:avLst/>
          </a:prstGeom>
          <a:noFill/>
          <a:ln/>
        </p:spPr>
        <p:txBody>
          <a:bodyPr wrap="square" lIns="0" tIns="0" rIns="0" bIns="0" rtlCol="0" anchor="ctr"/>
          <a:lstStyle/>
          <a:p>
            <a:pPr indent="0" marL="0">
              <a:buNone/>
            </a:pPr>
            <a:r>
              <a:rPr lang="en-US" sz="1200" dirty="0">
                <a:solidFill>
                  <a:srgbClr val="E8EFF6"/>
                </a:solidFill>
                <a:latin typeface="Calibri" pitchFamily="34" charset="0"/>
                <a:ea typeface="Calibri" pitchFamily="34" charset="-122"/>
                <a:cs typeface="Calibri" pitchFamily="34" charset="-120"/>
              </a:rPr>
              <a:t>Decision fatigue causes thousands of road accidents annually despite visible alertness.</a:t>
            </a:r>
            <a:endParaRPr lang="en-US" sz="1200" dirty="0"/>
          </a:p>
        </p:txBody>
      </p:sp>
      <p:sp>
        <p:nvSpPr>
          <p:cNvPr id="14" name="Shape 12"/>
          <p:cNvSpPr/>
          <p:nvPr/>
        </p:nvSpPr>
        <p:spPr>
          <a:xfrm>
            <a:off x="4709160" y="2880360"/>
            <a:ext cx="4023360" cy="150876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sp>
        <p:nvSpPr>
          <p:cNvPr id="15" name="Text 13"/>
          <p:cNvSpPr/>
          <p:nvPr/>
        </p:nvSpPr>
        <p:spPr>
          <a:xfrm>
            <a:off x="4846320" y="2990088"/>
            <a:ext cx="3749040" cy="347472"/>
          </a:xfrm>
          <a:prstGeom prst="rect">
            <a:avLst/>
          </a:prstGeom>
          <a:noFill/>
          <a:ln/>
        </p:spPr>
        <p:txBody>
          <a:bodyPr wrap="square" lIns="0" tIns="0" rIns="0" bIns="0" rtlCol="0" anchor="ctr"/>
          <a:lstStyle/>
          <a:p>
            <a:pPr indent="0" marL="0">
              <a:buNone/>
            </a:pPr>
            <a:r>
              <a:rPr lang="en-US" sz="1500" b="1" dirty="0">
                <a:solidFill>
                  <a:srgbClr val="FFB800"/>
                </a:solidFill>
                <a:latin typeface="Calibri" pitchFamily="34" charset="0"/>
                <a:ea typeface="Calibri" pitchFamily="34" charset="-122"/>
                <a:cs typeface="Calibri" pitchFamily="34" charset="-120"/>
              </a:rPr>
              <a:t>⚖️  Finance &amp; Law</a:t>
            </a:r>
            <a:endParaRPr lang="en-US" sz="1500" dirty="0"/>
          </a:p>
        </p:txBody>
      </p:sp>
      <p:sp>
        <p:nvSpPr>
          <p:cNvPr id="16" name="Text 14"/>
          <p:cNvSpPr/>
          <p:nvPr/>
        </p:nvSpPr>
        <p:spPr>
          <a:xfrm>
            <a:off x="4846320" y="3355848"/>
            <a:ext cx="3749040" cy="914400"/>
          </a:xfrm>
          <a:prstGeom prst="rect">
            <a:avLst/>
          </a:prstGeom>
          <a:noFill/>
          <a:ln/>
        </p:spPr>
        <p:txBody>
          <a:bodyPr wrap="square" lIns="0" tIns="0" rIns="0" bIns="0" rtlCol="0" anchor="ctr"/>
          <a:lstStyle/>
          <a:p>
            <a:pPr indent="0" marL="0">
              <a:buNone/>
            </a:pPr>
            <a:r>
              <a:rPr lang="en-US" sz="1200" dirty="0">
                <a:solidFill>
                  <a:srgbClr val="E8EFF6"/>
                </a:solidFill>
                <a:latin typeface="Calibri" pitchFamily="34" charset="0"/>
                <a:ea typeface="Calibri" pitchFamily="34" charset="-122"/>
                <a:cs typeface="Calibri" pitchFamily="34" charset="-120"/>
              </a:rPr>
              <a:t>Judges and traders make systematically worse decisions as their sessions progress.</a:t>
            </a:r>
            <a:endParaRPr lang="en-US" sz="1200" dirty="0"/>
          </a:p>
        </p:txBody>
      </p:sp>
      <p:sp>
        <p:nvSpPr>
          <p:cNvPr id="17" name="Shape 15"/>
          <p:cNvSpPr/>
          <p:nvPr/>
        </p:nvSpPr>
        <p:spPr>
          <a:xfrm>
            <a:off x="411480" y="4663440"/>
            <a:ext cx="8321040" cy="274320"/>
          </a:xfrm>
          <a:prstGeom prst="rect">
            <a:avLst/>
          </a:prstGeom>
          <a:solidFill>
            <a:srgbClr val="1A3A5C"/>
          </a:solidFill>
          <a:ln w="6350">
            <a:solidFill>
              <a:srgbClr val="1E4976"/>
            </a:solidFill>
            <a:prstDash val="solid"/>
          </a:ln>
        </p:spPr>
      </p:sp>
      <p:sp>
        <p:nvSpPr>
          <p:cNvPr id="18" name="Text 16"/>
          <p:cNvSpPr/>
          <p:nvPr/>
        </p:nvSpPr>
        <p:spPr>
          <a:xfrm>
            <a:off x="411480" y="4663440"/>
            <a:ext cx="8321040" cy="274320"/>
          </a:xfrm>
          <a:prstGeom prst="rect">
            <a:avLst/>
          </a:prstGeom>
          <a:noFill/>
          <a:ln/>
        </p:spPr>
        <p:txBody>
          <a:bodyPr wrap="square" lIns="0" tIns="0" rIns="0" bIns="0" rtlCol="0" anchor="ctr"/>
          <a:lstStyle/>
          <a:p>
            <a:pPr algn="ctr" indent="0" marL="0">
              <a:buNone/>
            </a:pPr>
            <a:r>
              <a:rPr lang="en-US" sz="1100" i="1" dirty="0">
                <a:solidFill>
                  <a:srgbClr val="00C6FF"/>
                </a:solidFill>
                <a:latin typeface="Calibri" pitchFamily="34" charset="0"/>
                <a:ea typeface="Calibri" pitchFamily="34" charset="-122"/>
                <a:cs typeface="Calibri" pitchFamily="34" charset="-120"/>
              </a:rPr>
              <a:t>Catching fatigue BEFORE an error saves lives, reduces liability, and improves human performance.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C39A"/>
          </a:solidFill>
          <a:ln w="12700">
            <a:solidFill>
              <a:srgbClr val="02C39A"/>
            </a:solidFill>
            <a:prstDash val="solid"/>
          </a:ln>
        </p:spPr>
      </p:sp>
      <p:sp>
        <p:nvSpPr>
          <p:cNvPr id="3" name="Text 1"/>
          <p:cNvSpPr/>
          <p:nvPr/>
        </p:nvSpPr>
        <p:spPr>
          <a:xfrm>
            <a:off x="411480" y="256032"/>
            <a:ext cx="8229600" cy="502920"/>
          </a:xfrm>
          <a:prstGeom prst="rect">
            <a:avLst/>
          </a:prstGeom>
          <a:noFill/>
          <a:ln/>
        </p:spPr>
        <p:txBody>
          <a:bodyPr wrap="square" lIns="0" tIns="0" rIns="0" bIns="0" rtlCol="0" anchor="ctr"/>
          <a:lstStyle/>
          <a:p>
            <a:pPr indent="0" marL="0">
              <a:buNone/>
            </a:pPr>
            <a:r>
              <a:rPr lang="en-US" sz="2800" b="1" spc="200" kern="0" dirty="0">
                <a:solidFill>
                  <a:srgbClr val="FFFFFF"/>
                </a:solidFill>
                <a:latin typeface="Calibri" pitchFamily="34" charset="0"/>
                <a:ea typeface="Calibri" pitchFamily="34" charset="-122"/>
                <a:cs typeface="Calibri" pitchFamily="34" charset="-120"/>
              </a:rPr>
              <a:t>THE BDFS SOLUTION</a:t>
            </a:r>
            <a:endParaRPr lang="en-US" sz="2800" dirty="0"/>
          </a:p>
        </p:txBody>
      </p:sp>
      <p:sp>
        <p:nvSpPr>
          <p:cNvPr id="4" name="Shape 2"/>
          <p:cNvSpPr/>
          <p:nvPr/>
        </p:nvSpPr>
        <p:spPr>
          <a:xfrm>
            <a:off x="411480" y="1005840"/>
            <a:ext cx="73152" cy="1005840"/>
          </a:xfrm>
          <a:prstGeom prst="rect">
            <a:avLst/>
          </a:prstGeom>
          <a:solidFill>
            <a:srgbClr val="00C6FF"/>
          </a:solidFill>
          <a:ln w="12700">
            <a:solidFill>
              <a:srgbClr val="00C6FF"/>
            </a:solidFill>
            <a:prstDash val="solid"/>
          </a:ln>
        </p:spPr>
      </p:sp>
      <p:sp>
        <p:nvSpPr>
          <p:cNvPr id="5" name="Text 3"/>
          <p:cNvSpPr/>
          <p:nvPr/>
        </p:nvSpPr>
        <p:spPr>
          <a:xfrm>
            <a:off x="594360" y="1051560"/>
            <a:ext cx="3749040" cy="347472"/>
          </a:xfrm>
          <a:prstGeom prst="rect">
            <a:avLst/>
          </a:prstGeom>
          <a:noFill/>
          <a:ln/>
        </p:spPr>
        <p:txBody>
          <a:bodyPr wrap="square" lIns="0" tIns="0" rIns="0" bIns="0" rtlCol="0" anchor="ctr"/>
          <a:lstStyle/>
          <a:p>
            <a:pPr indent="0" marL="0">
              <a:buNone/>
            </a:pPr>
            <a:r>
              <a:rPr lang="en-US" sz="1500" b="1" dirty="0">
                <a:solidFill>
                  <a:srgbClr val="00C6FF"/>
                </a:solidFill>
                <a:latin typeface="Calibri" pitchFamily="34" charset="0"/>
                <a:ea typeface="Calibri" pitchFamily="34" charset="-122"/>
                <a:cs typeface="Calibri" pitchFamily="34" charset="-120"/>
              </a:rPr>
              <a:t>NON-INTRUSIVE</a:t>
            </a:r>
            <a:endParaRPr lang="en-US" sz="1500" dirty="0"/>
          </a:p>
        </p:txBody>
      </p:sp>
      <p:sp>
        <p:nvSpPr>
          <p:cNvPr id="6" name="Text 4"/>
          <p:cNvSpPr/>
          <p:nvPr/>
        </p:nvSpPr>
        <p:spPr>
          <a:xfrm>
            <a:off x="594360" y="1399032"/>
            <a:ext cx="3749040" cy="640080"/>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Infers fatigue from behavioral patterns only — no wearables, no biometrics required.</a:t>
            </a:r>
            <a:endParaRPr lang="en-US" sz="1250" dirty="0"/>
          </a:p>
        </p:txBody>
      </p:sp>
      <p:sp>
        <p:nvSpPr>
          <p:cNvPr id="7" name="Shape 5"/>
          <p:cNvSpPr/>
          <p:nvPr/>
        </p:nvSpPr>
        <p:spPr>
          <a:xfrm>
            <a:off x="411480" y="2286000"/>
            <a:ext cx="73152" cy="1005840"/>
          </a:xfrm>
          <a:prstGeom prst="rect">
            <a:avLst/>
          </a:prstGeom>
          <a:solidFill>
            <a:srgbClr val="02C39A"/>
          </a:solidFill>
          <a:ln w="12700">
            <a:solidFill>
              <a:srgbClr val="02C39A"/>
            </a:solidFill>
            <a:prstDash val="solid"/>
          </a:ln>
        </p:spPr>
      </p:sp>
      <p:sp>
        <p:nvSpPr>
          <p:cNvPr id="8" name="Text 6"/>
          <p:cNvSpPr/>
          <p:nvPr/>
        </p:nvSpPr>
        <p:spPr>
          <a:xfrm>
            <a:off x="594360" y="2331720"/>
            <a:ext cx="3749040" cy="347472"/>
          </a:xfrm>
          <a:prstGeom prst="rect">
            <a:avLst/>
          </a:prstGeom>
          <a:noFill/>
          <a:ln/>
        </p:spPr>
        <p:txBody>
          <a:bodyPr wrap="square" lIns="0" tIns="0" rIns="0" bIns="0"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REAL-TIME</a:t>
            </a:r>
            <a:endParaRPr lang="en-US" sz="1500" dirty="0"/>
          </a:p>
        </p:txBody>
      </p:sp>
      <p:sp>
        <p:nvSpPr>
          <p:cNvPr id="9" name="Text 7"/>
          <p:cNvSpPr/>
          <p:nvPr/>
        </p:nvSpPr>
        <p:spPr>
          <a:xfrm>
            <a:off x="594360" y="2679192"/>
            <a:ext cx="3749040" cy="640080"/>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XGBoost inference completes in under 10ms via an async FastAPI REST endpoint.</a:t>
            </a:r>
            <a:endParaRPr lang="en-US" sz="1250" dirty="0"/>
          </a:p>
        </p:txBody>
      </p:sp>
      <p:sp>
        <p:nvSpPr>
          <p:cNvPr id="10" name="Shape 8"/>
          <p:cNvSpPr/>
          <p:nvPr/>
        </p:nvSpPr>
        <p:spPr>
          <a:xfrm>
            <a:off x="411480" y="3566160"/>
            <a:ext cx="73152" cy="1005840"/>
          </a:xfrm>
          <a:prstGeom prst="rect">
            <a:avLst/>
          </a:prstGeom>
          <a:solidFill>
            <a:srgbClr val="FFB800"/>
          </a:solidFill>
          <a:ln w="12700">
            <a:solidFill>
              <a:srgbClr val="FFB800"/>
            </a:solidFill>
            <a:prstDash val="solid"/>
          </a:ln>
        </p:spPr>
      </p:sp>
      <p:sp>
        <p:nvSpPr>
          <p:cNvPr id="11" name="Text 9"/>
          <p:cNvSpPr/>
          <p:nvPr/>
        </p:nvSpPr>
        <p:spPr>
          <a:xfrm>
            <a:off x="594360" y="3611880"/>
            <a:ext cx="3749040" cy="347472"/>
          </a:xfrm>
          <a:prstGeom prst="rect">
            <a:avLst/>
          </a:prstGeom>
          <a:noFill/>
          <a:ln/>
        </p:spPr>
        <p:txBody>
          <a:bodyPr wrap="square" lIns="0" tIns="0" rIns="0" bIns="0" rtlCol="0" anchor="ctr"/>
          <a:lstStyle/>
          <a:p>
            <a:pPr indent="0" marL="0">
              <a:buNone/>
            </a:pPr>
            <a:r>
              <a:rPr lang="en-US" sz="1500" b="1" dirty="0">
                <a:solidFill>
                  <a:srgbClr val="FFB800"/>
                </a:solidFill>
                <a:latin typeface="Calibri" pitchFamily="34" charset="0"/>
                <a:ea typeface="Calibri" pitchFamily="34" charset="-122"/>
                <a:cs typeface="Calibri" pitchFamily="34" charset="-120"/>
              </a:rPr>
              <a:t>EXPLAINABLE</a:t>
            </a:r>
            <a:endParaRPr lang="en-US" sz="1500" dirty="0"/>
          </a:p>
        </p:txBody>
      </p:sp>
      <p:sp>
        <p:nvSpPr>
          <p:cNvPr id="12" name="Text 10"/>
          <p:cNvSpPr/>
          <p:nvPr/>
        </p:nvSpPr>
        <p:spPr>
          <a:xfrm>
            <a:off x="594360" y="3959352"/>
            <a:ext cx="3749040" cy="640080"/>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SHAP values expose exactly which behavioral signals drove each prediction.</a:t>
            </a:r>
            <a:endParaRPr lang="en-US" sz="1250" dirty="0"/>
          </a:p>
        </p:txBody>
      </p:sp>
      <p:sp>
        <p:nvSpPr>
          <p:cNvPr id="13" name="Shape 11"/>
          <p:cNvSpPr/>
          <p:nvPr/>
        </p:nvSpPr>
        <p:spPr>
          <a:xfrm>
            <a:off x="4754880" y="914400"/>
            <a:ext cx="4114800" cy="347472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sp>
        <p:nvSpPr>
          <p:cNvPr id="14" name="Text 12"/>
          <p:cNvSpPr/>
          <p:nvPr/>
        </p:nvSpPr>
        <p:spPr>
          <a:xfrm>
            <a:off x="4892040" y="1051560"/>
            <a:ext cx="3840480" cy="320040"/>
          </a:xfrm>
          <a:prstGeom prst="rect">
            <a:avLst/>
          </a:prstGeom>
          <a:noFill/>
          <a:ln/>
        </p:spPr>
        <p:txBody>
          <a:bodyPr wrap="square" lIns="0" tIns="0" rIns="0" bIns="0" rtlCol="0" anchor="ctr"/>
          <a:lstStyle/>
          <a:p>
            <a:pPr indent="0" marL="0">
              <a:buNone/>
            </a:pPr>
            <a:r>
              <a:rPr lang="en-US" sz="1300" b="1" dirty="0">
                <a:solidFill>
                  <a:srgbClr val="00C6FF"/>
                </a:solidFill>
                <a:latin typeface="Calibri" pitchFamily="34" charset="0"/>
                <a:ea typeface="Calibri" pitchFamily="34" charset="-122"/>
                <a:cs typeface="Calibri" pitchFamily="34" charset="-120"/>
              </a:rPr>
              <a:t>System at a Glance</a:t>
            </a:r>
            <a:endParaRPr lang="en-US" sz="1300" dirty="0"/>
          </a:p>
        </p:txBody>
      </p:sp>
      <p:sp>
        <p:nvSpPr>
          <p:cNvPr id="15" name="Text 13"/>
          <p:cNvSpPr/>
          <p:nvPr/>
        </p:nvSpPr>
        <p:spPr>
          <a:xfrm>
            <a:off x="4892040" y="1463040"/>
            <a:ext cx="3840480" cy="384048"/>
          </a:xfrm>
          <a:prstGeom prst="rect">
            <a:avLst/>
          </a:prstGeom>
          <a:noFill/>
          <a:ln/>
        </p:spPr>
        <p:txBody>
          <a:bodyPr wrap="square" lIns="0" tIns="0" rIns="0" bIns="0" rtlCol="0" anchor="ctr"/>
          <a:lstStyle/>
          <a:p>
            <a:pPr indent="0" marL="0">
              <a:buNone/>
            </a:pPr>
            <a:r>
              <a:rPr lang="en-US" sz="1200" dirty="0">
                <a:solidFill>
                  <a:srgbClr val="E8EFF6"/>
                </a:solidFill>
                <a:latin typeface="Calibri" pitchFamily="34" charset="0"/>
                <a:ea typeface="Calibri" pitchFamily="34" charset="-122"/>
                <a:cs typeface="Calibri" pitchFamily="34" charset="-120"/>
              </a:rPr>
              <a:t>🖥️  Web UI (19 behavioral inputs)</a:t>
            </a:r>
            <a:endParaRPr lang="en-US" sz="1200" dirty="0"/>
          </a:p>
        </p:txBody>
      </p:sp>
      <p:sp>
        <p:nvSpPr>
          <p:cNvPr id="16" name="Text 14"/>
          <p:cNvSpPr/>
          <p:nvPr/>
        </p:nvSpPr>
        <p:spPr>
          <a:xfrm>
            <a:off x="4892040" y="1938528"/>
            <a:ext cx="3840480" cy="384048"/>
          </a:xfrm>
          <a:prstGeom prst="rect">
            <a:avLst/>
          </a:prstGeom>
          <a:noFill/>
          <a:ln/>
        </p:spPr>
        <p:txBody>
          <a:bodyPr wrap="square" lIns="0" tIns="0" rIns="0" bIns="0" rtlCol="0" anchor="ctr"/>
          <a:lstStyle/>
          <a:p>
            <a:pPr indent="0" marL="0">
              <a:buNone/>
            </a:pPr>
            <a:r>
              <a:rPr lang="en-US" sz="1200" dirty="0">
                <a:solidFill>
                  <a:srgbClr val="E8EFF6"/>
                </a:solidFill>
                <a:latin typeface="Calibri" pitchFamily="34" charset="0"/>
                <a:ea typeface="Calibri" pitchFamily="34" charset="-122"/>
                <a:cs typeface="Calibri" pitchFamily="34" charset="-120"/>
              </a:rPr>
              <a:t>⚡  FastAPI async REST backend</a:t>
            </a:r>
            <a:endParaRPr lang="en-US" sz="1200" dirty="0"/>
          </a:p>
        </p:txBody>
      </p:sp>
      <p:sp>
        <p:nvSpPr>
          <p:cNvPr id="17" name="Text 15"/>
          <p:cNvSpPr/>
          <p:nvPr/>
        </p:nvSpPr>
        <p:spPr>
          <a:xfrm>
            <a:off x="4892040" y="2414016"/>
            <a:ext cx="3840480" cy="384048"/>
          </a:xfrm>
          <a:prstGeom prst="rect">
            <a:avLst/>
          </a:prstGeom>
          <a:noFill/>
          <a:ln/>
        </p:spPr>
        <p:txBody>
          <a:bodyPr wrap="square" lIns="0" tIns="0" rIns="0" bIns="0" rtlCol="0" anchor="ctr"/>
          <a:lstStyle/>
          <a:p>
            <a:pPr indent="0" marL="0">
              <a:buNone/>
            </a:pPr>
            <a:r>
              <a:rPr lang="en-US" sz="1200" dirty="0">
                <a:solidFill>
                  <a:srgbClr val="E8EFF6"/>
                </a:solidFill>
                <a:latin typeface="Calibri" pitchFamily="34" charset="0"/>
                <a:ea typeface="Calibri" pitchFamily="34" charset="-122"/>
                <a:cs typeface="Calibri" pitchFamily="34" charset="-120"/>
              </a:rPr>
              <a:t>⚙️  StandardScaler preprocessing</a:t>
            </a:r>
            <a:endParaRPr lang="en-US" sz="1200" dirty="0"/>
          </a:p>
        </p:txBody>
      </p:sp>
      <p:sp>
        <p:nvSpPr>
          <p:cNvPr id="18" name="Text 16"/>
          <p:cNvSpPr/>
          <p:nvPr/>
        </p:nvSpPr>
        <p:spPr>
          <a:xfrm>
            <a:off x="4892040" y="2889504"/>
            <a:ext cx="3840480" cy="384048"/>
          </a:xfrm>
          <a:prstGeom prst="rect">
            <a:avLst/>
          </a:prstGeom>
          <a:noFill/>
          <a:ln/>
        </p:spPr>
        <p:txBody>
          <a:bodyPr wrap="square" lIns="0" tIns="0" rIns="0" bIns="0"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  XGBoost prediction engine</a:t>
            </a:r>
            <a:endParaRPr lang="en-US" sz="1200" dirty="0"/>
          </a:p>
        </p:txBody>
      </p:sp>
      <p:sp>
        <p:nvSpPr>
          <p:cNvPr id="19" name="Text 17"/>
          <p:cNvSpPr/>
          <p:nvPr/>
        </p:nvSpPr>
        <p:spPr>
          <a:xfrm>
            <a:off x="4892040" y="3364992"/>
            <a:ext cx="3840480" cy="384048"/>
          </a:xfrm>
          <a:prstGeom prst="rect">
            <a:avLst/>
          </a:prstGeom>
          <a:noFill/>
          <a:ln/>
        </p:spPr>
        <p:txBody>
          <a:bodyPr wrap="square" lIns="0" tIns="0" rIns="0" bIns="0" rtlCol="0" anchor="ctr"/>
          <a:lstStyle/>
          <a:p>
            <a:pPr indent="0" marL="0">
              <a:buNone/>
            </a:pPr>
            <a:r>
              <a:rPr lang="en-US" sz="1200" dirty="0">
                <a:solidFill>
                  <a:srgbClr val="E8EFF6"/>
                </a:solidFill>
                <a:latin typeface="Calibri" pitchFamily="34" charset="0"/>
                <a:ea typeface="Calibri" pitchFamily="34" charset="-122"/>
                <a:cs typeface="Calibri" pitchFamily="34" charset="-120"/>
              </a:rPr>
              <a:t>🔍  SHAP explainability layer</a:t>
            </a:r>
            <a:endParaRPr lang="en-US" sz="1200" dirty="0"/>
          </a:p>
        </p:txBody>
      </p:sp>
      <p:sp>
        <p:nvSpPr>
          <p:cNvPr id="20" name="Text 18"/>
          <p:cNvSpPr/>
          <p:nvPr/>
        </p:nvSpPr>
        <p:spPr>
          <a:xfrm>
            <a:off x="4892040" y="3840480"/>
            <a:ext cx="3840480" cy="384048"/>
          </a:xfrm>
          <a:prstGeom prst="rect">
            <a:avLst/>
          </a:prstGeom>
          <a:noFill/>
          <a:ln/>
        </p:spPr>
        <p:txBody>
          <a:bodyPr wrap="square" lIns="0" tIns="0" rIns="0" bIns="0" rtlCol="0" anchor="ctr"/>
          <a:lstStyle/>
          <a:p>
            <a:pPr indent="0" marL="0">
              <a:buNone/>
            </a:pPr>
            <a:r>
              <a:rPr lang="en-US" sz="1200" dirty="0">
                <a:solidFill>
                  <a:srgbClr val="E8EFF6"/>
                </a:solidFill>
                <a:latin typeface="Calibri" pitchFamily="34" charset="0"/>
                <a:ea typeface="Calibri" pitchFamily="34" charset="-122"/>
                <a:cs typeface="Calibri" pitchFamily="34" charset="-120"/>
              </a:rPr>
              <a:t>📊  Probability gauge + top factors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C6FF"/>
          </a:solidFill>
          <a:ln w="12700">
            <a:solidFill>
              <a:srgbClr val="00C6FF"/>
            </a:solidFill>
            <a:prstDash val="solid"/>
          </a:ln>
        </p:spPr>
      </p:sp>
      <p:sp>
        <p:nvSpPr>
          <p:cNvPr id="3" name="Text 1"/>
          <p:cNvSpPr/>
          <p:nvPr/>
        </p:nvSpPr>
        <p:spPr>
          <a:xfrm>
            <a:off x="411480" y="256032"/>
            <a:ext cx="8229600" cy="411480"/>
          </a:xfrm>
          <a:prstGeom prst="rect">
            <a:avLst/>
          </a:prstGeom>
          <a:noFill/>
          <a:ln/>
        </p:spPr>
        <p:txBody>
          <a:bodyPr wrap="square" lIns="0" tIns="0" rIns="0" bIns="0" rtlCol="0" anchor="ctr"/>
          <a:lstStyle/>
          <a:p>
            <a:pPr indent="0" marL="0">
              <a:buNone/>
            </a:pPr>
            <a:r>
              <a:rPr lang="en-US" sz="2400" b="1" spc="200" kern="0" dirty="0">
                <a:solidFill>
                  <a:srgbClr val="FFFFFF"/>
                </a:solidFill>
                <a:latin typeface="Calibri" pitchFamily="34" charset="0"/>
                <a:ea typeface="Calibri" pitchFamily="34" charset="-122"/>
                <a:cs typeface="Calibri" pitchFamily="34" charset="-120"/>
              </a:rPr>
              <a:t>DATASET &amp; FEATURE ENGINEERING</a:t>
            </a:r>
            <a:endParaRPr lang="en-US" sz="2400" dirty="0"/>
          </a:p>
        </p:txBody>
      </p:sp>
      <p:sp>
        <p:nvSpPr>
          <p:cNvPr id="4" name="Shape 2"/>
          <p:cNvSpPr/>
          <p:nvPr/>
        </p:nvSpPr>
        <p:spPr>
          <a:xfrm>
            <a:off x="411480" y="914400"/>
            <a:ext cx="4023360" cy="109728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sp>
        <p:nvSpPr>
          <p:cNvPr id="5" name="Text 3"/>
          <p:cNvSpPr/>
          <p:nvPr/>
        </p:nvSpPr>
        <p:spPr>
          <a:xfrm>
            <a:off x="502920" y="960120"/>
            <a:ext cx="1005840" cy="685800"/>
          </a:xfrm>
          <a:prstGeom prst="rect">
            <a:avLst/>
          </a:prstGeom>
          <a:noFill/>
          <a:ln/>
        </p:spPr>
        <p:txBody>
          <a:bodyPr wrap="square" lIns="0" tIns="0" rIns="0" bIns="0" rtlCol="0" anchor="ctr"/>
          <a:lstStyle/>
          <a:p>
            <a:pPr algn="ctr" indent="0" marL="0">
              <a:buNone/>
            </a:pPr>
            <a:r>
              <a:rPr lang="en-US" sz="3600" b="1" dirty="0">
                <a:solidFill>
                  <a:srgbClr val="00C6FF"/>
                </a:solidFill>
                <a:latin typeface="Calibri" pitchFamily="34" charset="0"/>
                <a:ea typeface="Calibri" pitchFamily="34" charset="-122"/>
                <a:cs typeface="Calibri" pitchFamily="34" charset="-120"/>
              </a:rPr>
              <a:t>150K</a:t>
            </a:r>
            <a:endParaRPr lang="en-US" sz="3600" dirty="0"/>
          </a:p>
        </p:txBody>
      </p:sp>
      <p:sp>
        <p:nvSpPr>
          <p:cNvPr id="6" name="Text 4"/>
          <p:cNvSpPr/>
          <p:nvPr/>
        </p:nvSpPr>
        <p:spPr>
          <a:xfrm>
            <a:off x="1554480" y="987552"/>
            <a:ext cx="274320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Total Records</a:t>
            </a:r>
            <a:endParaRPr lang="en-US" sz="1400" dirty="0"/>
          </a:p>
        </p:txBody>
      </p:sp>
      <p:sp>
        <p:nvSpPr>
          <p:cNvPr id="7" name="Text 5"/>
          <p:cNvSpPr/>
          <p:nvPr/>
        </p:nvSpPr>
        <p:spPr>
          <a:xfrm>
            <a:off x="1554480" y="1344168"/>
            <a:ext cx="2743200" cy="548640"/>
          </a:xfrm>
          <a:prstGeom prst="rect">
            <a:avLst/>
          </a:prstGeom>
          <a:noFill/>
          <a:ln/>
        </p:spPr>
        <p:txBody>
          <a:bodyPr wrap="square" lIns="0" tIns="0" rIns="0" bIns="0" rtlCol="0" anchor="ctr"/>
          <a:lstStyle/>
          <a:p>
            <a:pPr indent="0" marL="0">
              <a:buNone/>
            </a:pPr>
            <a:r>
              <a:rPr lang="en-US" sz="1050" dirty="0">
                <a:solidFill>
                  <a:srgbClr val="8BAABF"/>
                </a:solidFill>
                <a:latin typeface="Calibri" pitchFamily="34" charset="0"/>
                <a:ea typeface="Calibri" pitchFamily="34" charset="-122"/>
                <a:cs typeface="Calibri" pitchFamily="34" charset="-120"/>
              </a:rPr>
              <a:t>(99,583 Non-fatigued · 50,417 Fatigued)</a:t>
            </a:r>
            <a:endParaRPr lang="en-US" sz="1050" dirty="0"/>
          </a:p>
        </p:txBody>
      </p:sp>
      <p:sp>
        <p:nvSpPr>
          <p:cNvPr id="8" name="Shape 6"/>
          <p:cNvSpPr/>
          <p:nvPr/>
        </p:nvSpPr>
        <p:spPr>
          <a:xfrm>
            <a:off x="411480" y="2148840"/>
            <a:ext cx="4023360" cy="109728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sp>
        <p:nvSpPr>
          <p:cNvPr id="9" name="Text 7"/>
          <p:cNvSpPr/>
          <p:nvPr/>
        </p:nvSpPr>
        <p:spPr>
          <a:xfrm>
            <a:off x="502920" y="2194560"/>
            <a:ext cx="1005840" cy="685800"/>
          </a:xfrm>
          <a:prstGeom prst="rect">
            <a:avLst/>
          </a:prstGeom>
          <a:noFill/>
          <a:ln/>
        </p:spPr>
        <p:txBody>
          <a:bodyPr wrap="square" lIns="0" tIns="0" rIns="0" bIns="0" rtlCol="0" anchor="ctr"/>
          <a:lstStyle/>
          <a:p>
            <a:pPr algn="ctr" indent="0" marL="0">
              <a:buNone/>
            </a:pPr>
            <a:r>
              <a:rPr lang="en-US" sz="3600" b="1" dirty="0">
                <a:solidFill>
                  <a:srgbClr val="00C6FF"/>
                </a:solidFill>
                <a:latin typeface="Calibri" pitchFamily="34" charset="0"/>
                <a:ea typeface="Calibri" pitchFamily="34" charset="-122"/>
                <a:cs typeface="Calibri" pitchFamily="34" charset="-120"/>
              </a:rPr>
              <a:t>19</a:t>
            </a:r>
            <a:endParaRPr lang="en-US" sz="3600" dirty="0"/>
          </a:p>
        </p:txBody>
      </p:sp>
      <p:sp>
        <p:nvSpPr>
          <p:cNvPr id="10" name="Text 8"/>
          <p:cNvSpPr/>
          <p:nvPr/>
        </p:nvSpPr>
        <p:spPr>
          <a:xfrm>
            <a:off x="1554480" y="2221992"/>
            <a:ext cx="274320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Engineered Features</a:t>
            </a:r>
            <a:endParaRPr lang="en-US" sz="1400" dirty="0"/>
          </a:p>
        </p:txBody>
      </p:sp>
      <p:sp>
        <p:nvSpPr>
          <p:cNvPr id="11" name="Text 9"/>
          <p:cNvSpPr/>
          <p:nvPr/>
        </p:nvSpPr>
        <p:spPr>
          <a:xfrm>
            <a:off x="1554480" y="2578608"/>
            <a:ext cx="2743200" cy="548640"/>
          </a:xfrm>
          <a:prstGeom prst="rect">
            <a:avLst/>
          </a:prstGeom>
          <a:noFill/>
          <a:ln/>
        </p:spPr>
        <p:txBody>
          <a:bodyPr wrap="square" lIns="0" tIns="0" rIns="0" bIns="0" rtlCol="0" anchor="ctr"/>
          <a:lstStyle/>
          <a:p>
            <a:pPr indent="0" marL="0">
              <a:buNone/>
            </a:pPr>
            <a:r>
              <a:rPr lang="en-US" sz="1050" dirty="0">
                <a:solidFill>
                  <a:srgbClr val="8BAABF"/>
                </a:solidFill>
                <a:latin typeface="Calibri" pitchFamily="34" charset="0"/>
                <a:ea typeface="Calibri" pitchFamily="34" charset="-122"/>
                <a:cs typeface="Calibri" pitchFamily="34" charset="-120"/>
              </a:rPr>
              <a:t>Reaction Time · Choice · DDM · Context</a:t>
            </a:r>
            <a:endParaRPr lang="en-US" sz="1050" dirty="0"/>
          </a:p>
        </p:txBody>
      </p:sp>
      <p:sp>
        <p:nvSpPr>
          <p:cNvPr id="12" name="Shape 10"/>
          <p:cNvSpPr/>
          <p:nvPr/>
        </p:nvSpPr>
        <p:spPr>
          <a:xfrm>
            <a:off x="411480" y="3383280"/>
            <a:ext cx="4023360" cy="109728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sp>
        <p:nvSpPr>
          <p:cNvPr id="13" name="Text 11"/>
          <p:cNvSpPr/>
          <p:nvPr/>
        </p:nvSpPr>
        <p:spPr>
          <a:xfrm>
            <a:off x="502920" y="3429000"/>
            <a:ext cx="1005840" cy="685800"/>
          </a:xfrm>
          <a:prstGeom prst="rect">
            <a:avLst/>
          </a:prstGeom>
          <a:noFill/>
          <a:ln/>
        </p:spPr>
        <p:txBody>
          <a:bodyPr wrap="square" lIns="0" tIns="0" rIns="0" bIns="0" rtlCol="0" anchor="ctr"/>
          <a:lstStyle/>
          <a:p>
            <a:pPr algn="ctr" indent="0" marL="0">
              <a:buNone/>
            </a:pPr>
            <a:r>
              <a:rPr lang="en-US" sz="3600" b="1" dirty="0">
                <a:solidFill>
                  <a:srgbClr val="00C6FF"/>
                </a:solidFill>
                <a:latin typeface="Calibri" pitchFamily="34" charset="0"/>
                <a:ea typeface="Calibri" pitchFamily="34" charset="-122"/>
                <a:cs typeface="Calibri" pitchFamily="34" charset="-120"/>
              </a:rPr>
              <a:t>3</a:t>
            </a:r>
            <a:endParaRPr lang="en-US" sz="3600" dirty="0"/>
          </a:p>
        </p:txBody>
      </p:sp>
      <p:sp>
        <p:nvSpPr>
          <p:cNvPr id="14" name="Text 12"/>
          <p:cNvSpPr/>
          <p:nvPr/>
        </p:nvSpPr>
        <p:spPr>
          <a:xfrm>
            <a:off x="1554480" y="3456432"/>
            <a:ext cx="274320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Feature Groups</a:t>
            </a:r>
            <a:endParaRPr lang="en-US" sz="1400" dirty="0"/>
          </a:p>
        </p:txBody>
      </p:sp>
      <p:sp>
        <p:nvSpPr>
          <p:cNvPr id="15" name="Text 13"/>
          <p:cNvSpPr/>
          <p:nvPr/>
        </p:nvSpPr>
        <p:spPr>
          <a:xfrm>
            <a:off x="1554480" y="3813048"/>
            <a:ext cx="2743200" cy="548640"/>
          </a:xfrm>
          <a:prstGeom prst="rect">
            <a:avLst/>
          </a:prstGeom>
          <a:noFill/>
          <a:ln/>
        </p:spPr>
        <p:txBody>
          <a:bodyPr wrap="square" lIns="0" tIns="0" rIns="0" bIns="0" rtlCol="0" anchor="ctr"/>
          <a:lstStyle/>
          <a:p>
            <a:pPr indent="0" marL="0">
              <a:buNone/>
            </a:pPr>
            <a:r>
              <a:rPr lang="en-US" sz="1050" dirty="0">
                <a:solidFill>
                  <a:srgbClr val="8BAABF"/>
                </a:solidFill>
                <a:latin typeface="Calibri" pitchFamily="34" charset="0"/>
                <a:ea typeface="Calibri" pitchFamily="34" charset="-122"/>
                <a:cs typeface="Calibri" pitchFamily="34" charset="-120"/>
              </a:rPr>
              <a:t>Temporal · Cognitive · Behavioral</a:t>
            </a:r>
            <a:endParaRPr lang="en-US" sz="1050" dirty="0"/>
          </a:p>
        </p:txBody>
      </p:sp>
      <p:sp>
        <p:nvSpPr>
          <p:cNvPr id="16" name="Shape 14"/>
          <p:cNvSpPr/>
          <p:nvPr/>
        </p:nvSpPr>
        <p:spPr>
          <a:xfrm>
            <a:off x="4617720" y="777240"/>
            <a:ext cx="4206240" cy="406908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pic>
        <p:nvPicPr>
          <p:cNvPr id="17" name="Image 0" descr="preencoded.png">    </p:cNvPr>
          <p:cNvPicPr>
            <a:picLocks noChangeAspect="1"/>
          </p:cNvPicPr>
          <p:nvPr/>
        </p:nvPicPr>
        <p:blipFill>
          <a:blip r:embed="rId1"/>
          <a:srcRect l="0" r="0" t="0" b="0"/>
          <a:stretch/>
        </p:blipFill>
        <p:spPr>
          <a:xfrm>
            <a:off x="4663440" y="822960"/>
            <a:ext cx="4114800" cy="3977640"/>
          </a:xfrm>
          <a:prstGeom prst="rect">
            <a:avLst/>
          </a:prstGeom>
        </p:spPr>
      </p:pic>
      <p:sp>
        <p:nvSpPr>
          <p:cNvPr id="18" name="Text 15"/>
          <p:cNvSpPr/>
          <p:nvPr/>
        </p:nvSpPr>
        <p:spPr>
          <a:xfrm>
            <a:off x="4617720" y="4800600"/>
            <a:ext cx="4206240" cy="201168"/>
          </a:xfrm>
          <a:prstGeom prst="rect">
            <a:avLst/>
          </a:prstGeom>
          <a:noFill/>
          <a:ln/>
        </p:spPr>
        <p:txBody>
          <a:bodyPr wrap="square" lIns="0" tIns="0" rIns="0" bIns="0" rtlCol="0" anchor="ctr"/>
          <a:lstStyle/>
          <a:p>
            <a:pPr algn="ctr" indent="0" marL="0">
              <a:buNone/>
            </a:pPr>
            <a:r>
              <a:rPr lang="en-US" sz="850" i="1" dirty="0">
                <a:solidFill>
                  <a:srgbClr val="8BAABF"/>
                </a:solidFill>
                <a:latin typeface="Calibri" pitchFamily="34" charset="0"/>
                <a:ea typeface="Calibri" pitchFamily="34" charset="-122"/>
                <a:cs typeface="Calibri" pitchFamily="34" charset="-120"/>
              </a:rPr>
              <a:t>Feature Distributions by Class (Non-fatigued vs Fatigued)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C39A"/>
          </a:solidFill>
          <a:ln w="12700">
            <a:solidFill>
              <a:srgbClr val="02C39A"/>
            </a:solidFill>
            <a:prstDash val="solid"/>
          </a:ln>
        </p:spPr>
      </p:sp>
      <p:sp>
        <p:nvSpPr>
          <p:cNvPr id="3" name="Text 1"/>
          <p:cNvSpPr/>
          <p:nvPr/>
        </p:nvSpPr>
        <p:spPr>
          <a:xfrm>
            <a:off x="411480" y="256032"/>
            <a:ext cx="8229600" cy="411480"/>
          </a:xfrm>
          <a:prstGeom prst="rect">
            <a:avLst/>
          </a:prstGeom>
          <a:noFill/>
          <a:ln/>
        </p:spPr>
        <p:txBody>
          <a:bodyPr wrap="square" lIns="0" tIns="0" rIns="0" bIns="0" rtlCol="0" anchor="ctr"/>
          <a:lstStyle/>
          <a:p>
            <a:pPr indent="0" marL="0">
              <a:buNone/>
            </a:pPr>
            <a:r>
              <a:rPr lang="en-US" sz="2400" b="1" spc="200" kern="0" dirty="0">
                <a:solidFill>
                  <a:srgbClr val="FFFFFF"/>
                </a:solidFill>
                <a:latin typeface="Calibri" pitchFamily="34" charset="0"/>
                <a:ea typeface="Calibri" pitchFamily="34" charset="-122"/>
                <a:cs typeface="Calibri" pitchFamily="34" charset="-120"/>
              </a:rPr>
              <a:t>MODEL EVALUATION</a:t>
            </a:r>
            <a:endParaRPr lang="en-US" sz="2400" dirty="0"/>
          </a:p>
        </p:txBody>
      </p:sp>
      <p:sp>
        <p:nvSpPr>
          <p:cNvPr id="4" name="Text 2"/>
          <p:cNvSpPr/>
          <p:nvPr/>
        </p:nvSpPr>
        <p:spPr>
          <a:xfrm>
            <a:off x="411480" y="667512"/>
            <a:ext cx="4572000" cy="274320"/>
          </a:xfrm>
          <a:prstGeom prst="rect">
            <a:avLst/>
          </a:prstGeom>
          <a:noFill/>
          <a:ln/>
        </p:spPr>
        <p:txBody>
          <a:bodyPr wrap="square" lIns="0" tIns="0" rIns="0" bIns="0" rtlCol="0" anchor="ctr"/>
          <a:lstStyle/>
          <a:p>
            <a:pPr indent="0" marL="0">
              <a:buNone/>
            </a:pPr>
            <a:r>
              <a:rPr lang="en-US" sz="1300" i="1" dirty="0">
                <a:solidFill>
                  <a:srgbClr val="8BAABF"/>
                </a:solidFill>
                <a:latin typeface="Calibri" pitchFamily="34" charset="0"/>
                <a:ea typeface="Calibri" pitchFamily="34" charset="-122"/>
                <a:cs typeface="Calibri" pitchFamily="34" charset="-120"/>
              </a:rPr>
              <a:t>5 Models Trained · XGBoost Wins</a:t>
            </a:r>
            <a:endParaRPr lang="en-US" sz="1300" dirty="0"/>
          </a:p>
        </p:txBody>
      </p:sp>
      <p:sp>
        <p:nvSpPr>
          <p:cNvPr id="5" name="Shape 3"/>
          <p:cNvSpPr/>
          <p:nvPr/>
        </p:nvSpPr>
        <p:spPr>
          <a:xfrm>
            <a:off x="411480" y="1005840"/>
            <a:ext cx="5989320" cy="384048"/>
          </a:xfrm>
          <a:prstGeom prst="rect">
            <a:avLst/>
          </a:prstGeom>
          <a:solidFill>
            <a:srgbClr val="1A3A5C"/>
          </a:solidFill>
          <a:ln w="6350">
            <a:solidFill>
              <a:srgbClr val="1E4976"/>
            </a:solidFill>
            <a:prstDash val="solid"/>
          </a:ln>
        </p:spPr>
      </p:sp>
      <p:sp>
        <p:nvSpPr>
          <p:cNvPr id="6" name="Text 4"/>
          <p:cNvSpPr/>
          <p:nvPr/>
        </p:nvSpPr>
        <p:spPr>
          <a:xfrm>
            <a:off x="457200" y="1005840"/>
            <a:ext cx="1463040" cy="384048"/>
          </a:xfrm>
          <a:prstGeom prst="rect">
            <a:avLst/>
          </a:prstGeom>
          <a:noFill/>
          <a:ln/>
        </p:spPr>
        <p:txBody>
          <a:bodyPr wrap="square" lIns="0" tIns="0" rIns="0" bIns="0" rtlCol="0" anchor="ctr"/>
          <a:lstStyle/>
          <a:p>
            <a:pPr indent="0" marL="0">
              <a:buNone/>
            </a:pPr>
            <a:r>
              <a:rPr lang="en-US" sz="1100" b="1" dirty="0">
                <a:solidFill>
                  <a:srgbClr val="00C6FF"/>
                </a:solidFill>
                <a:latin typeface="Calibri" pitchFamily="34" charset="0"/>
                <a:ea typeface="Calibri" pitchFamily="34" charset="-122"/>
                <a:cs typeface="Calibri" pitchFamily="34" charset="-120"/>
              </a:rPr>
              <a:t>Model</a:t>
            </a:r>
            <a:endParaRPr lang="en-US" sz="1100" dirty="0"/>
          </a:p>
        </p:txBody>
      </p:sp>
      <p:sp>
        <p:nvSpPr>
          <p:cNvPr id="7" name="Text 5"/>
          <p:cNvSpPr/>
          <p:nvPr/>
        </p:nvSpPr>
        <p:spPr>
          <a:xfrm>
            <a:off x="2011680" y="1005840"/>
            <a:ext cx="1188720" cy="384048"/>
          </a:xfrm>
          <a:prstGeom prst="rect">
            <a:avLst/>
          </a:prstGeom>
          <a:noFill/>
          <a:ln/>
        </p:spPr>
        <p:txBody>
          <a:bodyPr wrap="square" lIns="0" tIns="0" rIns="0" bIns="0" rtlCol="0" anchor="ctr"/>
          <a:lstStyle/>
          <a:p>
            <a:pPr indent="0" marL="0">
              <a:buNone/>
            </a:pPr>
            <a:r>
              <a:rPr lang="en-US" sz="1100" b="1" dirty="0">
                <a:solidFill>
                  <a:srgbClr val="00C6FF"/>
                </a:solidFill>
                <a:latin typeface="Calibri" pitchFamily="34" charset="0"/>
                <a:ea typeface="Calibri" pitchFamily="34" charset="-122"/>
                <a:cs typeface="Calibri" pitchFamily="34" charset="-120"/>
              </a:rPr>
              <a:t>ROC-AUC</a:t>
            </a:r>
            <a:endParaRPr lang="en-US" sz="1100" dirty="0"/>
          </a:p>
        </p:txBody>
      </p:sp>
      <p:sp>
        <p:nvSpPr>
          <p:cNvPr id="8" name="Text 6"/>
          <p:cNvSpPr/>
          <p:nvPr/>
        </p:nvSpPr>
        <p:spPr>
          <a:xfrm>
            <a:off x="3291840" y="1005840"/>
            <a:ext cx="1005840" cy="384048"/>
          </a:xfrm>
          <a:prstGeom prst="rect">
            <a:avLst/>
          </a:prstGeom>
          <a:noFill/>
          <a:ln/>
        </p:spPr>
        <p:txBody>
          <a:bodyPr wrap="square" lIns="0" tIns="0" rIns="0" bIns="0" rtlCol="0" anchor="ctr"/>
          <a:lstStyle/>
          <a:p>
            <a:pPr indent="0" marL="0">
              <a:buNone/>
            </a:pPr>
            <a:r>
              <a:rPr lang="en-US" sz="1100" b="1" dirty="0">
                <a:solidFill>
                  <a:srgbClr val="00C6FF"/>
                </a:solidFill>
                <a:latin typeface="Calibri" pitchFamily="34" charset="0"/>
                <a:ea typeface="Calibri" pitchFamily="34" charset="-122"/>
                <a:cs typeface="Calibri" pitchFamily="34" charset="-120"/>
              </a:rPr>
              <a:t>F1-Score</a:t>
            </a:r>
            <a:endParaRPr lang="en-US" sz="1100" dirty="0"/>
          </a:p>
        </p:txBody>
      </p:sp>
      <p:sp>
        <p:nvSpPr>
          <p:cNvPr id="9" name="Text 7"/>
          <p:cNvSpPr/>
          <p:nvPr/>
        </p:nvSpPr>
        <p:spPr>
          <a:xfrm>
            <a:off x="4389120" y="1005840"/>
            <a:ext cx="1005840" cy="384048"/>
          </a:xfrm>
          <a:prstGeom prst="rect">
            <a:avLst/>
          </a:prstGeom>
          <a:noFill/>
          <a:ln/>
        </p:spPr>
        <p:txBody>
          <a:bodyPr wrap="square" lIns="0" tIns="0" rIns="0" bIns="0" rtlCol="0" anchor="ctr"/>
          <a:lstStyle/>
          <a:p>
            <a:pPr indent="0" marL="0">
              <a:buNone/>
            </a:pPr>
            <a:r>
              <a:rPr lang="en-US" sz="1100" b="1" dirty="0">
                <a:solidFill>
                  <a:srgbClr val="00C6FF"/>
                </a:solidFill>
                <a:latin typeface="Calibri" pitchFamily="34" charset="0"/>
                <a:ea typeface="Calibri" pitchFamily="34" charset="-122"/>
                <a:cs typeface="Calibri" pitchFamily="34" charset="-120"/>
              </a:rPr>
              <a:t>Precision</a:t>
            </a:r>
            <a:endParaRPr lang="en-US" sz="1100" dirty="0"/>
          </a:p>
        </p:txBody>
      </p:sp>
      <p:sp>
        <p:nvSpPr>
          <p:cNvPr id="10" name="Text 8"/>
          <p:cNvSpPr/>
          <p:nvPr/>
        </p:nvSpPr>
        <p:spPr>
          <a:xfrm>
            <a:off x="5440680" y="1005840"/>
            <a:ext cx="914400" cy="384048"/>
          </a:xfrm>
          <a:prstGeom prst="rect">
            <a:avLst/>
          </a:prstGeom>
          <a:noFill/>
          <a:ln/>
        </p:spPr>
        <p:txBody>
          <a:bodyPr wrap="square" lIns="0" tIns="0" rIns="0" bIns="0" rtlCol="0" anchor="ctr"/>
          <a:lstStyle/>
          <a:p>
            <a:pPr indent="0" marL="0">
              <a:buNone/>
            </a:pPr>
            <a:r>
              <a:rPr lang="en-US" sz="1100" b="1" dirty="0">
                <a:solidFill>
                  <a:srgbClr val="00C6FF"/>
                </a:solidFill>
                <a:latin typeface="Calibri" pitchFamily="34" charset="0"/>
                <a:ea typeface="Calibri" pitchFamily="34" charset="-122"/>
                <a:cs typeface="Calibri" pitchFamily="34" charset="-120"/>
              </a:rPr>
              <a:t>Recall</a:t>
            </a:r>
            <a:endParaRPr lang="en-US" sz="1100" dirty="0"/>
          </a:p>
        </p:txBody>
      </p:sp>
      <p:sp>
        <p:nvSpPr>
          <p:cNvPr id="11" name="Shape 9"/>
          <p:cNvSpPr/>
          <p:nvPr/>
        </p:nvSpPr>
        <p:spPr>
          <a:xfrm>
            <a:off x="411480" y="1389888"/>
            <a:ext cx="5989320" cy="420624"/>
          </a:xfrm>
          <a:prstGeom prst="rect">
            <a:avLst/>
          </a:prstGeom>
          <a:solidFill>
            <a:srgbClr val="1A3A5C"/>
          </a:solidFill>
          <a:ln w="3810">
            <a:solidFill>
              <a:srgbClr val="1E4976"/>
            </a:solidFill>
            <a:prstDash val="solid"/>
          </a:ln>
        </p:spPr>
      </p:sp>
      <p:sp>
        <p:nvSpPr>
          <p:cNvPr id="12" name="Text 10"/>
          <p:cNvSpPr/>
          <p:nvPr/>
        </p:nvSpPr>
        <p:spPr>
          <a:xfrm>
            <a:off x="457200" y="1389888"/>
            <a:ext cx="1463040" cy="420624"/>
          </a:xfrm>
          <a:prstGeom prst="rect">
            <a:avLst/>
          </a:prstGeom>
          <a:noFill/>
          <a:ln/>
        </p:spPr>
        <p:txBody>
          <a:bodyPr wrap="square" lIns="0" tIns="0" rIns="0" bIns="0"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XGBoost ✓</a:t>
            </a:r>
            <a:endParaRPr lang="en-US" sz="1100" dirty="0"/>
          </a:p>
        </p:txBody>
      </p:sp>
      <p:sp>
        <p:nvSpPr>
          <p:cNvPr id="13" name="Text 11"/>
          <p:cNvSpPr/>
          <p:nvPr/>
        </p:nvSpPr>
        <p:spPr>
          <a:xfrm>
            <a:off x="2011680" y="1389888"/>
            <a:ext cx="1188720" cy="420624"/>
          </a:xfrm>
          <a:prstGeom prst="rect">
            <a:avLst/>
          </a:prstGeom>
          <a:noFill/>
          <a:ln/>
        </p:spPr>
        <p:txBody>
          <a:bodyPr wrap="square" lIns="0" tIns="0" rIns="0" bIns="0"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0.967</a:t>
            </a:r>
            <a:endParaRPr lang="en-US" sz="1250" dirty="0"/>
          </a:p>
        </p:txBody>
      </p:sp>
      <p:sp>
        <p:nvSpPr>
          <p:cNvPr id="14" name="Text 12"/>
          <p:cNvSpPr/>
          <p:nvPr/>
        </p:nvSpPr>
        <p:spPr>
          <a:xfrm>
            <a:off x="3291840" y="1389888"/>
            <a:ext cx="1005840" cy="420624"/>
          </a:xfrm>
          <a:prstGeom prst="rect">
            <a:avLst/>
          </a:prstGeom>
          <a:noFill/>
          <a:ln/>
        </p:spPr>
        <p:txBody>
          <a:bodyPr wrap="square" lIns="0" tIns="0" rIns="0" bIns="0"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0.866</a:t>
            </a:r>
            <a:endParaRPr lang="en-US" sz="1250" dirty="0"/>
          </a:p>
        </p:txBody>
      </p:sp>
      <p:sp>
        <p:nvSpPr>
          <p:cNvPr id="15" name="Text 13"/>
          <p:cNvSpPr/>
          <p:nvPr/>
        </p:nvSpPr>
        <p:spPr>
          <a:xfrm>
            <a:off x="4389120" y="1389888"/>
            <a:ext cx="1005840" cy="420624"/>
          </a:xfrm>
          <a:prstGeom prst="rect">
            <a:avLst/>
          </a:prstGeom>
          <a:noFill/>
          <a:ln/>
        </p:spPr>
        <p:txBody>
          <a:bodyPr wrap="square" lIns="0" tIns="0" rIns="0" bIns="0"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0.916</a:t>
            </a:r>
            <a:endParaRPr lang="en-US" sz="1250" dirty="0"/>
          </a:p>
        </p:txBody>
      </p:sp>
      <p:sp>
        <p:nvSpPr>
          <p:cNvPr id="16" name="Text 14"/>
          <p:cNvSpPr/>
          <p:nvPr/>
        </p:nvSpPr>
        <p:spPr>
          <a:xfrm>
            <a:off x="5440680" y="1389888"/>
            <a:ext cx="914400" cy="420624"/>
          </a:xfrm>
          <a:prstGeom prst="rect">
            <a:avLst/>
          </a:prstGeom>
          <a:noFill/>
          <a:ln/>
        </p:spPr>
        <p:txBody>
          <a:bodyPr wrap="square" lIns="0" tIns="0" rIns="0" bIns="0"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0.821</a:t>
            </a:r>
            <a:endParaRPr lang="en-US" sz="1250" dirty="0"/>
          </a:p>
        </p:txBody>
      </p:sp>
      <p:sp>
        <p:nvSpPr>
          <p:cNvPr id="17" name="Shape 15"/>
          <p:cNvSpPr/>
          <p:nvPr/>
        </p:nvSpPr>
        <p:spPr>
          <a:xfrm>
            <a:off x="411480" y="1389888"/>
            <a:ext cx="54864" cy="420624"/>
          </a:xfrm>
          <a:prstGeom prst="rect">
            <a:avLst/>
          </a:prstGeom>
          <a:solidFill>
            <a:srgbClr val="02C39A"/>
          </a:solidFill>
          <a:ln w="12700">
            <a:solidFill>
              <a:srgbClr val="02C39A"/>
            </a:solidFill>
            <a:prstDash val="solid"/>
          </a:ln>
        </p:spPr>
      </p:sp>
      <p:sp>
        <p:nvSpPr>
          <p:cNvPr id="18" name="Shape 16"/>
          <p:cNvSpPr/>
          <p:nvPr/>
        </p:nvSpPr>
        <p:spPr>
          <a:xfrm>
            <a:off x="411480" y="1828800"/>
            <a:ext cx="5989320" cy="420624"/>
          </a:xfrm>
          <a:prstGeom prst="rect">
            <a:avLst/>
          </a:prstGeom>
          <a:solidFill>
            <a:srgbClr val="112233"/>
          </a:solidFill>
          <a:ln w="3810">
            <a:solidFill>
              <a:srgbClr val="1E4976"/>
            </a:solidFill>
            <a:prstDash val="solid"/>
          </a:ln>
        </p:spPr>
      </p:sp>
      <p:sp>
        <p:nvSpPr>
          <p:cNvPr id="19" name="Text 17"/>
          <p:cNvSpPr/>
          <p:nvPr/>
        </p:nvSpPr>
        <p:spPr>
          <a:xfrm>
            <a:off x="457200" y="1828800"/>
            <a:ext cx="1463040" cy="42062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Random Forest</a:t>
            </a:r>
            <a:endParaRPr lang="en-US" sz="1100" dirty="0"/>
          </a:p>
        </p:txBody>
      </p:sp>
      <p:sp>
        <p:nvSpPr>
          <p:cNvPr id="20" name="Text 18"/>
          <p:cNvSpPr/>
          <p:nvPr/>
        </p:nvSpPr>
        <p:spPr>
          <a:xfrm>
            <a:off x="2011680" y="1828800"/>
            <a:ext cx="118872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0.967</a:t>
            </a:r>
            <a:endParaRPr lang="en-US" sz="1250" dirty="0"/>
          </a:p>
        </p:txBody>
      </p:sp>
      <p:sp>
        <p:nvSpPr>
          <p:cNvPr id="21" name="Text 19"/>
          <p:cNvSpPr/>
          <p:nvPr/>
        </p:nvSpPr>
        <p:spPr>
          <a:xfrm>
            <a:off x="3291840" y="1828800"/>
            <a:ext cx="100584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0.908</a:t>
            </a:r>
            <a:endParaRPr lang="en-US" sz="1250" dirty="0"/>
          </a:p>
        </p:txBody>
      </p:sp>
      <p:sp>
        <p:nvSpPr>
          <p:cNvPr id="22" name="Text 20"/>
          <p:cNvSpPr/>
          <p:nvPr/>
        </p:nvSpPr>
        <p:spPr>
          <a:xfrm>
            <a:off x="4389120" y="1828800"/>
            <a:ext cx="100584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0.820</a:t>
            </a:r>
            <a:endParaRPr lang="en-US" sz="1250" dirty="0"/>
          </a:p>
        </p:txBody>
      </p:sp>
      <p:sp>
        <p:nvSpPr>
          <p:cNvPr id="23" name="Text 21"/>
          <p:cNvSpPr/>
          <p:nvPr/>
        </p:nvSpPr>
        <p:spPr>
          <a:xfrm>
            <a:off x="5440680" y="1828800"/>
            <a:ext cx="91440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0.916</a:t>
            </a:r>
            <a:endParaRPr lang="en-US" sz="1250" dirty="0"/>
          </a:p>
        </p:txBody>
      </p:sp>
      <p:sp>
        <p:nvSpPr>
          <p:cNvPr id="24" name="Shape 22"/>
          <p:cNvSpPr/>
          <p:nvPr/>
        </p:nvSpPr>
        <p:spPr>
          <a:xfrm>
            <a:off x="411480" y="2267712"/>
            <a:ext cx="5989320" cy="420624"/>
          </a:xfrm>
          <a:prstGeom prst="rect">
            <a:avLst/>
          </a:prstGeom>
          <a:solidFill>
            <a:srgbClr val="162A3F"/>
          </a:solidFill>
          <a:ln w="3810">
            <a:solidFill>
              <a:srgbClr val="1E4976"/>
            </a:solidFill>
            <a:prstDash val="solid"/>
          </a:ln>
        </p:spPr>
      </p:sp>
      <p:sp>
        <p:nvSpPr>
          <p:cNvPr id="25" name="Text 23"/>
          <p:cNvSpPr/>
          <p:nvPr/>
        </p:nvSpPr>
        <p:spPr>
          <a:xfrm>
            <a:off x="457200" y="2267712"/>
            <a:ext cx="1463040" cy="42062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Logistic Reg.</a:t>
            </a:r>
            <a:endParaRPr lang="en-US" sz="1100" dirty="0"/>
          </a:p>
        </p:txBody>
      </p:sp>
      <p:sp>
        <p:nvSpPr>
          <p:cNvPr id="26" name="Text 24"/>
          <p:cNvSpPr/>
          <p:nvPr/>
        </p:nvSpPr>
        <p:spPr>
          <a:xfrm>
            <a:off x="2011680" y="2267712"/>
            <a:ext cx="118872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0.948</a:t>
            </a:r>
            <a:endParaRPr lang="en-US" sz="1250" dirty="0"/>
          </a:p>
        </p:txBody>
      </p:sp>
      <p:sp>
        <p:nvSpPr>
          <p:cNvPr id="27" name="Text 25"/>
          <p:cNvSpPr/>
          <p:nvPr/>
        </p:nvSpPr>
        <p:spPr>
          <a:xfrm>
            <a:off x="3291840" y="2267712"/>
            <a:ext cx="100584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0.856</a:t>
            </a:r>
            <a:endParaRPr lang="en-US" sz="1250" dirty="0"/>
          </a:p>
        </p:txBody>
      </p:sp>
      <p:sp>
        <p:nvSpPr>
          <p:cNvPr id="28" name="Text 26"/>
          <p:cNvSpPr/>
          <p:nvPr/>
        </p:nvSpPr>
        <p:spPr>
          <a:xfrm>
            <a:off x="4389120" y="2267712"/>
            <a:ext cx="100584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0.774</a:t>
            </a:r>
            <a:endParaRPr lang="en-US" sz="1250" dirty="0"/>
          </a:p>
        </p:txBody>
      </p:sp>
      <p:sp>
        <p:nvSpPr>
          <p:cNvPr id="29" name="Text 27"/>
          <p:cNvSpPr/>
          <p:nvPr/>
        </p:nvSpPr>
        <p:spPr>
          <a:xfrm>
            <a:off x="5440680" y="2267712"/>
            <a:ext cx="91440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0.934</a:t>
            </a:r>
            <a:endParaRPr lang="en-US" sz="1250" dirty="0"/>
          </a:p>
        </p:txBody>
      </p:sp>
      <p:sp>
        <p:nvSpPr>
          <p:cNvPr id="30" name="Shape 28"/>
          <p:cNvSpPr/>
          <p:nvPr/>
        </p:nvSpPr>
        <p:spPr>
          <a:xfrm>
            <a:off x="411480" y="2706624"/>
            <a:ext cx="5989320" cy="420624"/>
          </a:xfrm>
          <a:prstGeom prst="rect">
            <a:avLst/>
          </a:prstGeom>
          <a:solidFill>
            <a:srgbClr val="112233"/>
          </a:solidFill>
          <a:ln w="3810">
            <a:solidFill>
              <a:srgbClr val="1E4976"/>
            </a:solidFill>
            <a:prstDash val="solid"/>
          </a:ln>
        </p:spPr>
      </p:sp>
      <p:sp>
        <p:nvSpPr>
          <p:cNvPr id="31" name="Text 29"/>
          <p:cNvSpPr/>
          <p:nvPr/>
        </p:nvSpPr>
        <p:spPr>
          <a:xfrm>
            <a:off x="457200" y="2706624"/>
            <a:ext cx="1463040" cy="42062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KNN</a:t>
            </a:r>
            <a:endParaRPr lang="en-US" sz="1100" dirty="0"/>
          </a:p>
        </p:txBody>
      </p:sp>
      <p:sp>
        <p:nvSpPr>
          <p:cNvPr id="32" name="Text 30"/>
          <p:cNvSpPr/>
          <p:nvPr/>
        </p:nvSpPr>
        <p:spPr>
          <a:xfrm>
            <a:off x="2011680" y="2706624"/>
            <a:ext cx="118872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0.812</a:t>
            </a:r>
            <a:endParaRPr lang="en-US" sz="1250" dirty="0"/>
          </a:p>
        </p:txBody>
      </p:sp>
      <p:sp>
        <p:nvSpPr>
          <p:cNvPr id="33" name="Text 31"/>
          <p:cNvSpPr/>
          <p:nvPr/>
        </p:nvSpPr>
        <p:spPr>
          <a:xfrm>
            <a:off x="3291840" y="2706624"/>
            <a:ext cx="100584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0.759</a:t>
            </a:r>
            <a:endParaRPr lang="en-US" sz="1250" dirty="0"/>
          </a:p>
        </p:txBody>
      </p:sp>
      <p:sp>
        <p:nvSpPr>
          <p:cNvPr id="34" name="Text 32"/>
          <p:cNvSpPr/>
          <p:nvPr/>
        </p:nvSpPr>
        <p:spPr>
          <a:xfrm>
            <a:off x="4389120" y="2706624"/>
            <a:ext cx="100584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0.539</a:t>
            </a:r>
            <a:endParaRPr lang="en-US" sz="1250" dirty="0"/>
          </a:p>
        </p:txBody>
      </p:sp>
      <p:sp>
        <p:nvSpPr>
          <p:cNvPr id="35" name="Text 33"/>
          <p:cNvSpPr/>
          <p:nvPr/>
        </p:nvSpPr>
        <p:spPr>
          <a:xfrm>
            <a:off x="5440680" y="2706624"/>
            <a:ext cx="91440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0.810</a:t>
            </a:r>
            <a:endParaRPr lang="en-US" sz="1250" dirty="0"/>
          </a:p>
        </p:txBody>
      </p:sp>
      <p:sp>
        <p:nvSpPr>
          <p:cNvPr id="36" name="Shape 34"/>
          <p:cNvSpPr/>
          <p:nvPr/>
        </p:nvSpPr>
        <p:spPr>
          <a:xfrm>
            <a:off x="411480" y="3145536"/>
            <a:ext cx="5989320" cy="420624"/>
          </a:xfrm>
          <a:prstGeom prst="rect">
            <a:avLst/>
          </a:prstGeom>
          <a:solidFill>
            <a:srgbClr val="162A3F"/>
          </a:solidFill>
          <a:ln w="3810">
            <a:solidFill>
              <a:srgbClr val="1E4976"/>
            </a:solidFill>
            <a:prstDash val="solid"/>
          </a:ln>
        </p:spPr>
      </p:sp>
      <p:sp>
        <p:nvSpPr>
          <p:cNvPr id="37" name="Text 35"/>
          <p:cNvSpPr/>
          <p:nvPr/>
        </p:nvSpPr>
        <p:spPr>
          <a:xfrm>
            <a:off x="457200" y="3145536"/>
            <a:ext cx="1463040" cy="42062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SVM</a:t>
            </a:r>
            <a:endParaRPr lang="en-US" sz="1100" dirty="0"/>
          </a:p>
        </p:txBody>
      </p:sp>
      <p:sp>
        <p:nvSpPr>
          <p:cNvPr id="38" name="Text 36"/>
          <p:cNvSpPr/>
          <p:nvPr/>
        </p:nvSpPr>
        <p:spPr>
          <a:xfrm>
            <a:off x="2011680" y="3145536"/>
            <a:ext cx="118872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0.771</a:t>
            </a:r>
            <a:endParaRPr lang="en-US" sz="1250" dirty="0"/>
          </a:p>
        </p:txBody>
      </p:sp>
      <p:sp>
        <p:nvSpPr>
          <p:cNvPr id="39" name="Text 37"/>
          <p:cNvSpPr/>
          <p:nvPr/>
        </p:nvSpPr>
        <p:spPr>
          <a:xfrm>
            <a:off x="3291840" y="3145536"/>
            <a:ext cx="100584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0.606</a:t>
            </a:r>
            <a:endParaRPr lang="en-US" sz="1250" dirty="0"/>
          </a:p>
        </p:txBody>
      </p:sp>
      <p:sp>
        <p:nvSpPr>
          <p:cNvPr id="40" name="Text 38"/>
          <p:cNvSpPr/>
          <p:nvPr/>
        </p:nvSpPr>
        <p:spPr>
          <a:xfrm>
            <a:off x="4389120" y="3145536"/>
            <a:ext cx="100584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0.506</a:t>
            </a:r>
            <a:endParaRPr lang="en-US" sz="1250" dirty="0"/>
          </a:p>
        </p:txBody>
      </p:sp>
      <p:sp>
        <p:nvSpPr>
          <p:cNvPr id="41" name="Text 39"/>
          <p:cNvSpPr/>
          <p:nvPr/>
        </p:nvSpPr>
        <p:spPr>
          <a:xfrm>
            <a:off x="5440680" y="3145536"/>
            <a:ext cx="914400" cy="420624"/>
          </a:xfrm>
          <a:prstGeom prst="rect">
            <a:avLst/>
          </a:prstGeom>
          <a:noFill/>
          <a:ln/>
        </p:spPr>
        <p:txBody>
          <a:bodyPr wrap="square" lIns="0" tIns="0" rIns="0" bIns="0" rtlCol="0" anchor="ctr"/>
          <a:lstStyle/>
          <a:p>
            <a:pPr indent="0" marL="0">
              <a:buNone/>
            </a:pPr>
            <a:r>
              <a:rPr lang="en-US" sz="1250" dirty="0">
                <a:solidFill>
                  <a:srgbClr val="E8EFF6"/>
                </a:solidFill>
                <a:latin typeface="Calibri" pitchFamily="34" charset="0"/>
                <a:ea typeface="Calibri" pitchFamily="34" charset="-122"/>
                <a:cs typeface="Calibri" pitchFamily="34" charset="-120"/>
              </a:rPr>
              <a:t>0.865</a:t>
            </a:r>
            <a:endParaRPr lang="en-US" sz="1250" dirty="0"/>
          </a:p>
        </p:txBody>
      </p:sp>
      <p:sp>
        <p:nvSpPr>
          <p:cNvPr id="42" name="Shape 40"/>
          <p:cNvSpPr/>
          <p:nvPr/>
        </p:nvSpPr>
        <p:spPr>
          <a:xfrm>
            <a:off x="6537960" y="804672"/>
            <a:ext cx="2377440" cy="402336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pic>
        <p:nvPicPr>
          <p:cNvPr id="43" name="Image 0" descr="preencoded.png">    </p:cNvPr>
          <p:cNvPicPr>
            <a:picLocks noChangeAspect="1"/>
          </p:cNvPicPr>
          <p:nvPr/>
        </p:nvPicPr>
        <p:blipFill>
          <a:blip r:embed="rId1"/>
          <a:srcRect l="0" r="0" t="0" b="0"/>
          <a:stretch/>
        </p:blipFill>
        <p:spPr>
          <a:xfrm>
            <a:off x="6565392" y="822960"/>
            <a:ext cx="2331720" cy="3977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w="12700">
            <a:solidFill>
              <a:srgbClr val="028090"/>
            </a:solidFill>
            <a:prstDash val="solid"/>
          </a:ln>
        </p:spPr>
      </p:sp>
      <p:sp>
        <p:nvSpPr>
          <p:cNvPr id="3" name="Text 1"/>
          <p:cNvSpPr/>
          <p:nvPr/>
        </p:nvSpPr>
        <p:spPr>
          <a:xfrm>
            <a:off x="411480" y="256032"/>
            <a:ext cx="8229600" cy="411480"/>
          </a:xfrm>
          <a:prstGeom prst="rect">
            <a:avLst/>
          </a:prstGeom>
          <a:noFill/>
          <a:ln/>
        </p:spPr>
        <p:txBody>
          <a:bodyPr wrap="square" lIns="0" tIns="0" rIns="0" bIns="0" rtlCol="0" anchor="ctr"/>
          <a:lstStyle/>
          <a:p>
            <a:pPr indent="0" marL="0">
              <a:buNone/>
            </a:pPr>
            <a:r>
              <a:rPr lang="en-US" sz="2400" b="1" spc="200" kern="0" dirty="0">
                <a:solidFill>
                  <a:srgbClr val="FFFFFF"/>
                </a:solidFill>
                <a:latin typeface="Calibri" pitchFamily="34" charset="0"/>
                <a:ea typeface="Calibri" pitchFamily="34" charset="-122"/>
                <a:cs typeface="Calibri" pitchFamily="34" charset="-120"/>
              </a:rPr>
              <a:t>END-TO-END PIPELINE</a:t>
            </a:r>
            <a:endParaRPr lang="en-US" sz="2400" dirty="0"/>
          </a:p>
        </p:txBody>
      </p:sp>
      <p:sp>
        <p:nvSpPr>
          <p:cNvPr id="4" name="Shape 2"/>
          <p:cNvSpPr/>
          <p:nvPr/>
        </p:nvSpPr>
        <p:spPr>
          <a:xfrm>
            <a:off x="274320" y="1188720"/>
            <a:ext cx="1371600" cy="2560320"/>
          </a:xfrm>
          <a:prstGeom prst="rect">
            <a:avLst/>
          </a:prstGeom>
          <a:solidFill>
            <a:srgbClr val="162A3F"/>
          </a:solidFill>
          <a:ln w="12700">
            <a:solidFill>
              <a:srgbClr val="00C6FF"/>
            </a:solidFill>
            <a:prstDash val="solid"/>
          </a:ln>
          <a:effectLst>
            <a:outerShdw sx="100000" sy="100000" kx="0" ky="0" algn="bl" rotWithShape="0" blurRad="101600" dist="38100" dir="8100000">
              <a:srgbClr val="000000">
                <a:alpha val="35000"/>
              </a:srgbClr>
            </a:outerShdw>
          </a:effectLst>
        </p:spPr>
      </p:sp>
      <p:sp>
        <p:nvSpPr>
          <p:cNvPr id="5" name="Shape 3"/>
          <p:cNvSpPr/>
          <p:nvPr/>
        </p:nvSpPr>
        <p:spPr>
          <a:xfrm>
            <a:off x="274320" y="1188720"/>
            <a:ext cx="1371600" cy="73152"/>
          </a:xfrm>
          <a:prstGeom prst="rect">
            <a:avLst/>
          </a:prstGeom>
          <a:solidFill>
            <a:srgbClr val="00C6FF"/>
          </a:solidFill>
          <a:ln w="12700">
            <a:solidFill>
              <a:srgbClr val="00C6FF"/>
            </a:solidFill>
            <a:prstDash val="solid"/>
          </a:ln>
        </p:spPr>
      </p:sp>
      <p:sp>
        <p:nvSpPr>
          <p:cNvPr id="6" name="Text 4"/>
          <p:cNvSpPr/>
          <p:nvPr/>
        </p:nvSpPr>
        <p:spPr>
          <a:xfrm>
            <a:off x="274320" y="1325880"/>
            <a:ext cx="137160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274320" y="1828800"/>
            <a:ext cx="1371600" cy="320040"/>
          </a:xfrm>
          <a:prstGeom prst="rect">
            <a:avLst/>
          </a:prstGeom>
          <a:noFill/>
          <a:ln/>
        </p:spPr>
        <p:txBody>
          <a:bodyPr wrap="square" lIns="0" tIns="0" rIns="0" bIns="0" rtlCol="0" anchor="ctr"/>
          <a:lstStyle/>
          <a:p>
            <a:pPr algn="ctr" indent="0" marL="0">
              <a:buNone/>
            </a:pPr>
            <a:r>
              <a:rPr lang="en-US" sz="2000" b="1" dirty="0">
                <a:solidFill>
                  <a:srgbClr val="00C6FF"/>
                </a:solidFill>
                <a:latin typeface="Calibri" pitchFamily="34" charset="0"/>
                <a:ea typeface="Calibri" pitchFamily="34" charset="-122"/>
                <a:cs typeface="Calibri" pitchFamily="34" charset="-120"/>
              </a:rPr>
              <a:t>01</a:t>
            </a:r>
            <a:endParaRPr lang="en-US" sz="2000" dirty="0"/>
          </a:p>
        </p:txBody>
      </p:sp>
      <p:sp>
        <p:nvSpPr>
          <p:cNvPr id="8" name="Text 6"/>
          <p:cNvSpPr/>
          <p:nvPr/>
        </p:nvSpPr>
        <p:spPr>
          <a:xfrm>
            <a:off x="274320" y="2148840"/>
            <a:ext cx="137160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Web UI</a:t>
            </a:r>
            <a:endParaRPr lang="en-US" sz="1300" dirty="0"/>
          </a:p>
        </p:txBody>
      </p:sp>
      <p:sp>
        <p:nvSpPr>
          <p:cNvPr id="9" name="Text 7"/>
          <p:cNvSpPr/>
          <p:nvPr/>
        </p:nvSpPr>
        <p:spPr>
          <a:xfrm>
            <a:off x="274320" y="2496312"/>
            <a:ext cx="1371600" cy="594360"/>
          </a:xfrm>
          <a:prstGeom prst="rect">
            <a:avLst/>
          </a:prstGeom>
          <a:noFill/>
          <a:ln/>
        </p:spPr>
        <p:txBody>
          <a:bodyPr wrap="square" lIns="0" tIns="0" rIns="0" bIns="0" rtlCol="0" anchor="ctr"/>
          <a:lstStyle/>
          <a:p>
            <a:pPr algn="ctr" indent="0" marL="0">
              <a:buNone/>
            </a:pPr>
            <a:r>
              <a:rPr lang="en-US" sz="1000" dirty="0">
                <a:solidFill>
                  <a:srgbClr val="8BAABF"/>
                </a:solidFill>
                <a:latin typeface="Calibri" pitchFamily="34" charset="0"/>
                <a:ea typeface="Calibri" pitchFamily="34" charset="-122"/>
                <a:cs typeface="Calibri" pitchFamily="34" charset="-120"/>
              </a:rPr>
              <a:t>19 sliders · Simple / Expert modes</a:t>
            </a:r>
            <a:endParaRPr lang="en-US" sz="1000" dirty="0"/>
          </a:p>
        </p:txBody>
      </p:sp>
      <p:sp>
        <p:nvSpPr>
          <p:cNvPr id="10" name="Text 8"/>
          <p:cNvSpPr/>
          <p:nvPr/>
        </p:nvSpPr>
        <p:spPr>
          <a:xfrm>
            <a:off x="1645920" y="2194560"/>
            <a:ext cx="201168" cy="457200"/>
          </a:xfrm>
          <a:prstGeom prst="rect">
            <a:avLst/>
          </a:prstGeom>
          <a:noFill/>
          <a:ln/>
        </p:spPr>
        <p:txBody>
          <a:bodyPr wrap="square" lIns="0" tIns="0" rIns="0" bIns="0" rtlCol="0" anchor="ctr"/>
          <a:lstStyle/>
          <a:p>
            <a:pPr algn="ctr" indent="0" marL="0">
              <a:buNone/>
            </a:pPr>
            <a:r>
              <a:rPr lang="en-US" sz="1400" dirty="0">
                <a:solidFill>
                  <a:srgbClr val="8BAABF"/>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1847088" y="1188720"/>
            <a:ext cx="1371600" cy="2560320"/>
          </a:xfrm>
          <a:prstGeom prst="rect">
            <a:avLst/>
          </a:prstGeom>
          <a:solidFill>
            <a:srgbClr val="162A3F"/>
          </a:solidFill>
          <a:ln w="12700">
            <a:solidFill>
              <a:srgbClr val="028090"/>
            </a:solidFill>
            <a:prstDash val="solid"/>
          </a:ln>
          <a:effectLst>
            <a:outerShdw sx="100000" sy="100000" kx="0" ky="0" algn="bl" rotWithShape="0" blurRad="101600" dist="38100" dir="8100000">
              <a:srgbClr val="000000">
                <a:alpha val="35000"/>
              </a:srgbClr>
            </a:outerShdw>
          </a:effectLst>
        </p:spPr>
      </p:sp>
      <p:sp>
        <p:nvSpPr>
          <p:cNvPr id="12" name="Shape 10"/>
          <p:cNvSpPr/>
          <p:nvPr/>
        </p:nvSpPr>
        <p:spPr>
          <a:xfrm>
            <a:off x="1847088" y="1188720"/>
            <a:ext cx="1371600" cy="73152"/>
          </a:xfrm>
          <a:prstGeom prst="rect">
            <a:avLst/>
          </a:prstGeom>
          <a:solidFill>
            <a:srgbClr val="028090"/>
          </a:solidFill>
          <a:ln w="12700">
            <a:solidFill>
              <a:srgbClr val="028090"/>
            </a:solidFill>
            <a:prstDash val="solid"/>
          </a:ln>
        </p:spPr>
      </p:sp>
      <p:sp>
        <p:nvSpPr>
          <p:cNvPr id="13" name="Text 11"/>
          <p:cNvSpPr/>
          <p:nvPr/>
        </p:nvSpPr>
        <p:spPr>
          <a:xfrm>
            <a:off x="1847088" y="1325880"/>
            <a:ext cx="137160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1847088" y="1828800"/>
            <a:ext cx="1371600" cy="320040"/>
          </a:xfrm>
          <a:prstGeom prst="rect">
            <a:avLst/>
          </a:prstGeom>
          <a:noFill/>
          <a:ln/>
        </p:spPr>
        <p:txBody>
          <a:bodyPr wrap="square" lIns="0" tIns="0" rIns="0" bIns="0" rtlCol="0" anchor="ctr"/>
          <a:lstStyle/>
          <a:p>
            <a:pPr algn="ctr" indent="0" marL="0">
              <a:buNone/>
            </a:pPr>
            <a:r>
              <a:rPr lang="en-US" sz="2000" b="1" dirty="0">
                <a:solidFill>
                  <a:srgbClr val="028090"/>
                </a:solidFill>
                <a:latin typeface="Calibri" pitchFamily="34" charset="0"/>
                <a:ea typeface="Calibri" pitchFamily="34" charset="-122"/>
                <a:cs typeface="Calibri" pitchFamily="34" charset="-120"/>
              </a:rPr>
              <a:t>02</a:t>
            </a:r>
            <a:endParaRPr lang="en-US" sz="2000" dirty="0"/>
          </a:p>
        </p:txBody>
      </p:sp>
      <p:sp>
        <p:nvSpPr>
          <p:cNvPr id="15" name="Text 13"/>
          <p:cNvSpPr/>
          <p:nvPr/>
        </p:nvSpPr>
        <p:spPr>
          <a:xfrm>
            <a:off x="1847088" y="2148840"/>
            <a:ext cx="137160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REST API</a:t>
            </a:r>
            <a:endParaRPr lang="en-US" sz="1300" dirty="0"/>
          </a:p>
        </p:txBody>
      </p:sp>
      <p:sp>
        <p:nvSpPr>
          <p:cNvPr id="16" name="Text 14"/>
          <p:cNvSpPr/>
          <p:nvPr/>
        </p:nvSpPr>
        <p:spPr>
          <a:xfrm>
            <a:off x="1847088" y="2496312"/>
            <a:ext cx="1371600" cy="594360"/>
          </a:xfrm>
          <a:prstGeom prst="rect">
            <a:avLst/>
          </a:prstGeom>
          <a:noFill/>
          <a:ln/>
        </p:spPr>
        <p:txBody>
          <a:bodyPr wrap="square" lIns="0" tIns="0" rIns="0" bIns="0" rtlCol="0" anchor="ctr"/>
          <a:lstStyle/>
          <a:p>
            <a:pPr algn="ctr" indent="0" marL="0">
              <a:buNone/>
            </a:pPr>
            <a:r>
              <a:rPr lang="en-US" sz="1000" dirty="0">
                <a:solidFill>
                  <a:srgbClr val="8BAABF"/>
                </a:solidFill>
                <a:latin typeface="Calibri" pitchFamily="34" charset="0"/>
                <a:ea typeface="Calibri" pitchFamily="34" charset="-122"/>
                <a:cs typeface="Calibri" pitchFamily="34" charset="-120"/>
              </a:rPr>
              <a:t>Async FastAPI POST /predict</a:t>
            </a:r>
            <a:endParaRPr lang="en-US" sz="1000" dirty="0"/>
          </a:p>
        </p:txBody>
      </p:sp>
      <p:sp>
        <p:nvSpPr>
          <p:cNvPr id="17" name="Text 15"/>
          <p:cNvSpPr/>
          <p:nvPr/>
        </p:nvSpPr>
        <p:spPr>
          <a:xfrm>
            <a:off x="3218688" y="2194560"/>
            <a:ext cx="201168" cy="457200"/>
          </a:xfrm>
          <a:prstGeom prst="rect">
            <a:avLst/>
          </a:prstGeom>
          <a:noFill/>
          <a:ln/>
        </p:spPr>
        <p:txBody>
          <a:bodyPr wrap="square" lIns="0" tIns="0" rIns="0" bIns="0" rtlCol="0" anchor="ctr"/>
          <a:lstStyle/>
          <a:p>
            <a:pPr algn="ctr" indent="0" marL="0">
              <a:buNone/>
            </a:pPr>
            <a:r>
              <a:rPr lang="en-US" sz="1400" dirty="0">
                <a:solidFill>
                  <a:srgbClr val="8BAABF"/>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3419856" y="1188720"/>
            <a:ext cx="1371600" cy="2560320"/>
          </a:xfrm>
          <a:prstGeom prst="rect">
            <a:avLst/>
          </a:prstGeom>
          <a:solidFill>
            <a:srgbClr val="162A3F"/>
          </a:solidFill>
          <a:ln w="12700">
            <a:solidFill>
              <a:srgbClr val="FFB800"/>
            </a:solidFill>
            <a:prstDash val="solid"/>
          </a:ln>
          <a:effectLst>
            <a:outerShdw sx="100000" sy="100000" kx="0" ky="0" algn="bl" rotWithShape="0" blurRad="101600" dist="38100" dir="8100000">
              <a:srgbClr val="000000">
                <a:alpha val="35000"/>
              </a:srgbClr>
            </a:outerShdw>
          </a:effectLst>
        </p:spPr>
      </p:sp>
      <p:sp>
        <p:nvSpPr>
          <p:cNvPr id="19" name="Shape 17"/>
          <p:cNvSpPr/>
          <p:nvPr/>
        </p:nvSpPr>
        <p:spPr>
          <a:xfrm>
            <a:off x="3419856" y="1188720"/>
            <a:ext cx="1371600" cy="73152"/>
          </a:xfrm>
          <a:prstGeom prst="rect">
            <a:avLst/>
          </a:prstGeom>
          <a:solidFill>
            <a:srgbClr val="FFB800"/>
          </a:solidFill>
          <a:ln w="12700">
            <a:solidFill>
              <a:srgbClr val="FFB800"/>
            </a:solidFill>
            <a:prstDash val="solid"/>
          </a:ln>
        </p:spPr>
      </p:sp>
      <p:sp>
        <p:nvSpPr>
          <p:cNvPr id="20" name="Text 18"/>
          <p:cNvSpPr/>
          <p:nvPr/>
        </p:nvSpPr>
        <p:spPr>
          <a:xfrm>
            <a:off x="3419856" y="1325880"/>
            <a:ext cx="137160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Text 19"/>
          <p:cNvSpPr/>
          <p:nvPr/>
        </p:nvSpPr>
        <p:spPr>
          <a:xfrm>
            <a:off x="3419856" y="1828800"/>
            <a:ext cx="1371600" cy="320040"/>
          </a:xfrm>
          <a:prstGeom prst="rect">
            <a:avLst/>
          </a:prstGeom>
          <a:noFill/>
          <a:ln/>
        </p:spPr>
        <p:txBody>
          <a:bodyPr wrap="square" lIns="0" tIns="0" rIns="0" bIns="0" rtlCol="0" anchor="ctr"/>
          <a:lstStyle/>
          <a:p>
            <a:pPr algn="ctr" indent="0" marL="0">
              <a:buNone/>
            </a:pPr>
            <a:r>
              <a:rPr lang="en-US" sz="2000" b="1" dirty="0">
                <a:solidFill>
                  <a:srgbClr val="FFB800"/>
                </a:solidFill>
                <a:latin typeface="Calibri" pitchFamily="34" charset="0"/>
                <a:ea typeface="Calibri" pitchFamily="34" charset="-122"/>
                <a:cs typeface="Calibri" pitchFamily="34" charset="-120"/>
              </a:rPr>
              <a:t>03</a:t>
            </a:r>
            <a:endParaRPr lang="en-US" sz="2000" dirty="0"/>
          </a:p>
        </p:txBody>
      </p:sp>
      <p:sp>
        <p:nvSpPr>
          <p:cNvPr id="22" name="Text 20"/>
          <p:cNvSpPr/>
          <p:nvPr/>
        </p:nvSpPr>
        <p:spPr>
          <a:xfrm>
            <a:off x="3419856" y="2148840"/>
            <a:ext cx="137160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Preprocessing</a:t>
            </a:r>
            <a:endParaRPr lang="en-US" sz="1300" dirty="0"/>
          </a:p>
        </p:txBody>
      </p:sp>
      <p:sp>
        <p:nvSpPr>
          <p:cNvPr id="23" name="Text 21"/>
          <p:cNvSpPr/>
          <p:nvPr/>
        </p:nvSpPr>
        <p:spPr>
          <a:xfrm>
            <a:off x="3419856" y="2496312"/>
            <a:ext cx="1371600" cy="594360"/>
          </a:xfrm>
          <a:prstGeom prst="rect">
            <a:avLst/>
          </a:prstGeom>
          <a:noFill/>
          <a:ln/>
        </p:spPr>
        <p:txBody>
          <a:bodyPr wrap="square" lIns="0" tIns="0" rIns="0" bIns="0" rtlCol="0" anchor="ctr"/>
          <a:lstStyle/>
          <a:p>
            <a:pPr algn="ctr" indent="0" marL="0">
              <a:buNone/>
            </a:pPr>
            <a:r>
              <a:rPr lang="en-US" sz="1000" dirty="0">
                <a:solidFill>
                  <a:srgbClr val="8BAABF"/>
                </a:solidFill>
                <a:latin typeface="Calibri" pitchFamily="34" charset="0"/>
                <a:ea typeface="Calibri" pitchFamily="34" charset="-122"/>
                <a:cs typeface="Calibri" pitchFamily="34" charset="-120"/>
              </a:rPr>
              <a:t>StandardScaler (train-fitted)</a:t>
            </a:r>
            <a:endParaRPr lang="en-US" sz="1000" dirty="0"/>
          </a:p>
        </p:txBody>
      </p:sp>
      <p:sp>
        <p:nvSpPr>
          <p:cNvPr id="24" name="Text 22"/>
          <p:cNvSpPr/>
          <p:nvPr/>
        </p:nvSpPr>
        <p:spPr>
          <a:xfrm>
            <a:off x="4791456" y="2194560"/>
            <a:ext cx="201168" cy="457200"/>
          </a:xfrm>
          <a:prstGeom prst="rect">
            <a:avLst/>
          </a:prstGeom>
          <a:noFill/>
          <a:ln/>
        </p:spPr>
        <p:txBody>
          <a:bodyPr wrap="square" lIns="0" tIns="0" rIns="0" bIns="0" rtlCol="0" anchor="ctr"/>
          <a:lstStyle/>
          <a:p>
            <a:pPr algn="ctr" indent="0" marL="0">
              <a:buNone/>
            </a:pPr>
            <a:r>
              <a:rPr lang="en-US" sz="1400" dirty="0">
                <a:solidFill>
                  <a:srgbClr val="8BAABF"/>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4992624" y="1188720"/>
            <a:ext cx="1371600" cy="2560320"/>
          </a:xfrm>
          <a:prstGeom prst="rect">
            <a:avLst/>
          </a:prstGeom>
          <a:solidFill>
            <a:srgbClr val="162A3F"/>
          </a:solidFill>
          <a:ln w="12700">
            <a:solidFill>
              <a:srgbClr val="02C39A"/>
            </a:solidFill>
            <a:prstDash val="solid"/>
          </a:ln>
          <a:effectLst>
            <a:outerShdw sx="100000" sy="100000" kx="0" ky="0" algn="bl" rotWithShape="0" blurRad="101600" dist="38100" dir="8100000">
              <a:srgbClr val="000000">
                <a:alpha val="35000"/>
              </a:srgbClr>
            </a:outerShdw>
          </a:effectLst>
        </p:spPr>
      </p:sp>
      <p:sp>
        <p:nvSpPr>
          <p:cNvPr id="26" name="Shape 24"/>
          <p:cNvSpPr/>
          <p:nvPr/>
        </p:nvSpPr>
        <p:spPr>
          <a:xfrm>
            <a:off x="4992624" y="1188720"/>
            <a:ext cx="1371600" cy="73152"/>
          </a:xfrm>
          <a:prstGeom prst="rect">
            <a:avLst/>
          </a:prstGeom>
          <a:solidFill>
            <a:srgbClr val="02C39A"/>
          </a:solidFill>
          <a:ln w="12700">
            <a:solidFill>
              <a:srgbClr val="02C39A"/>
            </a:solidFill>
            <a:prstDash val="solid"/>
          </a:ln>
        </p:spPr>
      </p:sp>
      <p:sp>
        <p:nvSpPr>
          <p:cNvPr id="27" name="Text 25"/>
          <p:cNvSpPr/>
          <p:nvPr/>
        </p:nvSpPr>
        <p:spPr>
          <a:xfrm>
            <a:off x="4992624" y="1325880"/>
            <a:ext cx="137160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8" name="Text 26"/>
          <p:cNvSpPr/>
          <p:nvPr/>
        </p:nvSpPr>
        <p:spPr>
          <a:xfrm>
            <a:off x="4992624" y="1828800"/>
            <a:ext cx="1371600" cy="320040"/>
          </a:xfrm>
          <a:prstGeom prst="rect">
            <a:avLst/>
          </a:prstGeom>
          <a:noFill/>
          <a:ln/>
        </p:spPr>
        <p:txBody>
          <a:bodyPr wrap="square" lIns="0" tIns="0" rIns="0" bIns="0"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04</a:t>
            </a:r>
            <a:endParaRPr lang="en-US" sz="2000" dirty="0"/>
          </a:p>
        </p:txBody>
      </p:sp>
      <p:sp>
        <p:nvSpPr>
          <p:cNvPr id="29" name="Text 27"/>
          <p:cNvSpPr/>
          <p:nvPr/>
        </p:nvSpPr>
        <p:spPr>
          <a:xfrm>
            <a:off x="4992624" y="2148840"/>
            <a:ext cx="137160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XGBoost</a:t>
            </a:r>
            <a:endParaRPr lang="en-US" sz="1300" dirty="0"/>
          </a:p>
        </p:txBody>
      </p:sp>
      <p:sp>
        <p:nvSpPr>
          <p:cNvPr id="30" name="Text 28"/>
          <p:cNvSpPr/>
          <p:nvPr/>
        </p:nvSpPr>
        <p:spPr>
          <a:xfrm>
            <a:off x="4992624" y="2496312"/>
            <a:ext cx="1371600" cy="594360"/>
          </a:xfrm>
          <a:prstGeom prst="rect">
            <a:avLst/>
          </a:prstGeom>
          <a:noFill/>
          <a:ln/>
        </p:spPr>
        <p:txBody>
          <a:bodyPr wrap="square" lIns="0" tIns="0" rIns="0" bIns="0" rtlCol="0" anchor="ctr"/>
          <a:lstStyle/>
          <a:p>
            <a:pPr algn="ctr" indent="0" marL="0">
              <a:buNone/>
            </a:pPr>
            <a:r>
              <a:rPr lang="en-US" sz="1000" dirty="0">
                <a:solidFill>
                  <a:srgbClr val="8BAABF"/>
                </a:solidFill>
                <a:latin typeface="Calibri" pitchFamily="34" charset="0"/>
                <a:ea typeface="Calibri" pitchFamily="34" charset="-122"/>
                <a:cs typeface="Calibri" pitchFamily="34" charset="-120"/>
              </a:rPr>
              <a:t>Predict class + probability</a:t>
            </a:r>
            <a:endParaRPr lang="en-US" sz="1000" dirty="0"/>
          </a:p>
        </p:txBody>
      </p:sp>
      <p:sp>
        <p:nvSpPr>
          <p:cNvPr id="31" name="Text 29"/>
          <p:cNvSpPr/>
          <p:nvPr/>
        </p:nvSpPr>
        <p:spPr>
          <a:xfrm>
            <a:off x="6364224" y="2194560"/>
            <a:ext cx="201168" cy="457200"/>
          </a:xfrm>
          <a:prstGeom prst="rect">
            <a:avLst/>
          </a:prstGeom>
          <a:noFill/>
          <a:ln/>
        </p:spPr>
        <p:txBody>
          <a:bodyPr wrap="square" lIns="0" tIns="0" rIns="0" bIns="0" rtlCol="0" anchor="ctr"/>
          <a:lstStyle/>
          <a:p>
            <a:pPr algn="ctr" indent="0" marL="0">
              <a:buNone/>
            </a:pPr>
            <a:r>
              <a:rPr lang="en-US" sz="1400" dirty="0">
                <a:solidFill>
                  <a:srgbClr val="8BAABF"/>
                </a:solidFill>
                <a:latin typeface="Calibri" pitchFamily="34" charset="0"/>
                <a:ea typeface="Calibri" pitchFamily="34" charset="-122"/>
                <a:cs typeface="Calibri" pitchFamily="34" charset="-120"/>
              </a:rPr>
              <a:t>→</a:t>
            </a:r>
            <a:endParaRPr lang="en-US" sz="1400" dirty="0"/>
          </a:p>
        </p:txBody>
      </p:sp>
      <p:sp>
        <p:nvSpPr>
          <p:cNvPr id="32" name="Shape 30"/>
          <p:cNvSpPr/>
          <p:nvPr/>
        </p:nvSpPr>
        <p:spPr>
          <a:xfrm>
            <a:off x="6565392" y="1188720"/>
            <a:ext cx="1371600" cy="2560320"/>
          </a:xfrm>
          <a:prstGeom prst="rect">
            <a:avLst/>
          </a:prstGeom>
          <a:solidFill>
            <a:srgbClr val="162A3F"/>
          </a:solidFill>
          <a:ln w="12700">
            <a:solidFill>
              <a:srgbClr val="00C6FF"/>
            </a:solidFill>
            <a:prstDash val="solid"/>
          </a:ln>
          <a:effectLst>
            <a:outerShdw sx="100000" sy="100000" kx="0" ky="0" algn="bl" rotWithShape="0" blurRad="101600" dist="38100" dir="8100000">
              <a:srgbClr val="000000">
                <a:alpha val="35000"/>
              </a:srgbClr>
            </a:outerShdw>
          </a:effectLst>
        </p:spPr>
      </p:sp>
      <p:sp>
        <p:nvSpPr>
          <p:cNvPr id="33" name="Shape 31"/>
          <p:cNvSpPr/>
          <p:nvPr/>
        </p:nvSpPr>
        <p:spPr>
          <a:xfrm>
            <a:off x="6565392" y="1188720"/>
            <a:ext cx="1371600" cy="73152"/>
          </a:xfrm>
          <a:prstGeom prst="rect">
            <a:avLst/>
          </a:prstGeom>
          <a:solidFill>
            <a:srgbClr val="00C6FF"/>
          </a:solidFill>
          <a:ln w="12700">
            <a:solidFill>
              <a:srgbClr val="00C6FF"/>
            </a:solidFill>
            <a:prstDash val="solid"/>
          </a:ln>
        </p:spPr>
      </p:sp>
      <p:sp>
        <p:nvSpPr>
          <p:cNvPr id="34" name="Text 32"/>
          <p:cNvSpPr/>
          <p:nvPr/>
        </p:nvSpPr>
        <p:spPr>
          <a:xfrm>
            <a:off x="6565392" y="1325880"/>
            <a:ext cx="137160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5" name="Text 33"/>
          <p:cNvSpPr/>
          <p:nvPr/>
        </p:nvSpPr>
        <p:spPr>
          <a:xfrm>
            <a:off x="6565392" y="1828800"/>
            <a:ext cx="1371600" cy="320040"/>
          </a:xfrm>
          <a:prstGeom prst="rect">
            <a:avLst/>
          </a:prstGeom>
          <a:noFill/>
          <a:ln/>
        </p:spPr>
        <p:txBody>
          <a:bodyPr wrap="square" lIns="0" tIns="0" rIns="0" bIns="0" rtlCol="0" anchor="ctr"/>
          <a:lstStyle/>
          <a:p>
            <a:pPr algn="ctr" indent="0" marL="0">
              <a:buNone/>
            </a:pPr>
            <a:r>
              <a:rPr lang="en-US" sz="2000" b="1" dirty="0">
                <a:solidFill>
                  <a:srgbClr val="00C6FF"/>
                </a:solidFill>
                <a:latin typeface="Calibri" pitchFamily="34" charset="0"/>
                <a:ea typeface="Calibri" pitchFamily="34" charset="-122"/>
                <a:cs typeface="Calibri" pitchFamily="34" charset="-120"/>
              </a:rPr>
              <a:t>05</a:t>
            </a:r>
            <a:endParaRPr lang="en-US" sz="2000" dirty="0"/>
          </a:p>
        </p:txBody>
      </p:sp>
      <p:sp>
        <p:nvSpPr>
          <p:cNvPr id="36" name="Text 34"/>
          <p:cNvSpPr/>
          <p:nvPr/>
        </p:nvSpPr>
        <p:spPr>
          <a:xfrm>
            <a:off x="6565392" y="2148840"/>
            <a:ext cx="137160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SHAP</a:t>
            </a:r>
            <a:endParaRPr lang="en-US" sz="1300" dirty="0"/>
          </a:p>
        </p:txBody>
      </p:sp>
      <p:sp>
        <p:nvSpPr>
          <p:cNvPr id="37" name="Text 35"/>
          <p:cNvSpPr/>
          <p:nvPr/>
        </p:nvSpPr>
        <p:spPr>
          <a:xfrm>
            <a:off x="6565392" y="2496312"/>
            <a:ext cx="1371600" cy="594360"/>
          </a:xfrm>
          <a:prstGeom prst="rect">
            <a:avLst/>
          </a:prstGeom>
          <a:noFill/>
          <a:ln/>
        </p:spPr>
        <p:txBody>
          <a:bodyPr wrap="square" lIns="0" tIns="0" rIns="0" bIns="0" rtlCol="0" anchor="ctr"/>
          <a:lstStyle/>
          <a:p>
            <a:pPr algn="ctr" indent="0" marL="0">
              <a:buNone/>
            </a:pPr>
            <a:r>
              <a:rPr lang="en-US" sz="1000" dirty="0">
                <a:solidFill>
                  <a:srgbClr val="8BAABF"/>
                </a:solidFill>
                <a:latin typeface="Calibri" pitchFamily="34" charset="0"/>
                <a:ea typeface="Calibri" pitchFamily="34" charset="-122"/>
                <a:cs typeface="Calibri" pitchFamily="34" charset="-120"/>
              </a:rPr>
              <a:t>Top-N feature contributions</a:t>
            </a:r>
            <a:endParaRPr lang="en-US" sz="1000" dirty="0"/>
          </a:p>
        </p:txBody>
      </p:sp>
      <p:sp>
        <p:nvSpPr>
          <p:cNvPr id="38" name="Text 36"/>
          <p:cNvSpPr/>
          <p:nvPr/>
        </p:nvSpPr>
        <p:spPr>
          <a:xfrm>
            <a:off x="7936992" y="2194560"/>
            <a:ext cx="201168" cy="457200"/>
          </a:xfrm>
          <a:prstGeom prst="rect">
            <a:avLst/>
          </a:prstGeom>
          <a:noFill/>
          <a:ln/>
        </p:spPr>
        <p:txBody>
          <a:bodyPr wrap="square" lIns="0" tIns="0" rIns="0" bIns="0" rtlCol="0" anchor="ctr"/>
          <a:lstStyle/>
          <a:p>
            <a:pPr algn="ctr" indent="0" marL="0">
              <a:buNone/>
            </a:pPr>
            <a:r>
              <a:rPr lang="en-US" sz="1400" dirty="0">
                <a:solidFill>
                  <a:srgbClr val="8BAABF"/>
                </a:solidFill>
                <a:latin typeface="Calibri" pitchFamily="34" charset="0"/>
                <a:ea typeface="Calibri" pitchFamily="34" charset="-122"/>
                <a:cs typeface="Calibri" pitchFamily="34" charset="-120"/>
              </a:rPr>
              <a:t>→</a:t>
            </a:r>
            <a:endParaRPr lang="en-US" sz="1400" dirty="0"/>
          </a:p>
        </p:txBody>
      </p:sp>
      <p:sp>
        <p:nvSpPr>
          <p:cNvPr id="39" name="Shape 37"/>
          <p:cNvSpPr/>
          <p:nvPr/>
        </p:nvSpPr>
        <p:spPr>
          <a:xfrm>
            <a:off x="8138160" y="1188720"/>
            <a:ext cx="1371600" cy="2560320"/>
          </a:xfrm>
          <a:prstGeom prst="rect">
            <a:avLst/>
          </a:prstGeom>
          <a:solidFill>
            <a:srgbClr val="162A3F"/>
          </a:solidFill>
          <a:ln w="12700">
            <a:solidFill>
              <a:srgbClr val="028090"/>
            </a:solidFill>
            <a:prstDash val="solid"/>
          </a:ln>
          <a:effectLst>
            <a:outerShdw sx="100000" sy="100000" kx="0" ky="0" algn="bl" rotWithShape="0" blurRad="101600" dist="38100" dir="8100000">
              <a:srgbClr val="000000">
                <a:alpha val="35000"/>
              </a:srgbClr>
            </a:outerShdw>
          </a:effectLst>
        </p:spPr>
      </p:sp>
      <p:sp>
        <p:nvSpPr>
          <p:cNvPr id="40" name="Shape 38"/>
          <p:cNvSpPr/>
          <p:nvPr/>
        </p:nvSpPr>
        <p:spPr>
          <a:xfrm>
            <a:off x="8138160" y="1188720"/>
            <a:ext cx="1371600" cy="73152"/>
          </a:xfrm>
          <a:prstGeom prst="rect">
            <a:avLst/>
          </a:prstGeom>
          <a:solidFill>
            <a:srgbClr val="028090"/>
          </a:solidFill>
          <a:ln w="12700">
            <a:solidFill>
              <a:srgbClr val="028090"/>
            </a:solidFill>
            <a:prstDash val="solid"/>
          </a:ln>
        </p:spPr>
      </p:sp>
      <p:sp>
        <p:nvSpPr>
          <p:cNvPr id="41" name="Text 39"/>
          <p:cNvSpPr/>
          <p:nvPr/>
        </p:nvSpPr>
        <p:spPr>
          <a:xfrm>
            <a:off x="8138160" y="1325880"/>
            <a:ext cx="137160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42" name="Text 40"/>
          <p:cNvSpPr/>
          <p:nvPr/>
        </p:nvSpPr>
        <p:spPr>
          <a:xfrm>
            <a:off x="8138160" y="1828800"/>
            <a:ext cx="1371600" cy="320040"/>
          </a:xfrm>
          <a:prstGeom prst="rect">
            <a:avLst/>
          </a:prstGeom>
          <a:noFill/>
          <a:ln/>
        </p:spPr>
        <p:txBody>
          <a:bodyPr wrap="square" lIns="0" tIns="0" rIns="0" bIns="0" rtlCol="0" anchor="ctr"/>
          <a:lstStyle/>
          <a:p>
            <a:pPr algn="ctr" indent="0" marL="0">
              <a:buNone/>
            </a:pPr>
            <a:r>
              <a:rPr lang="en-US" sz="2000" b="1" dirty="0">
                <a:solidFill>
                  <a:srgbClr val="028090"/>
                </a:solidFill>
                <a:latin typeface="Calibri" pitchFamily="34" charset="0"/>
                <a:ea typeface="Calibri" pitchFamily="34" charset="-122"/>
                <a:cs typeface="Calibri" pitchFamily="34" charset="-120"/>
              </a:rPr>
              <a:t>06</a:t>
            </a:r>
            <a:endParaRPr lang="en-US" sz="2000" dirty="0"/>
          </a:p>
        </p:txBody>
      </p:sp>
      <p:sp>
        <p:nvSpPr>
          <p:cNvPr id="43" name="Text 41"/>
          <p:cNvSpPr/>
          <p:nvPr/>
        </p:nvSpPr>
        <p:spPr>
          <a:xfrm>
            <a:off x="8138160" y="2148840"/>
            <a:ext cx="137160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UI Display</a:t>
            </a:r>
            <a:endParaRPr lang="en-US" sz="1300" dirty="0"/>
          </a:p>
        </p:txBody>
      </p:sp>
      <p:sp>
        <p:nvSpPr>
          <p:cNvPr id="44" name="Text 42"/>
          <p:cNvSpPr/>
          <p:nvPr/>
        </p:nvSpPr>
        <p:spPr>
          <a:xfrm>
            <a:off x="8138160" y="2496312"/>
            <a:ext cx="1371600" cy="594360"/>
          </a:xfrm>
          <a:prstGeom prst="rect">
            <a:avLst/>
          </a:prstGeom>
          <a:noFill/>
          <a:ln/>
        </p:spPr>
        <p:txBody>
          <a:bodyPr wrap="square" lIns="0" tIns="0" rIns="0" bIns="0" rtlCol="0" anchor="ctr"/>
          <a:lstStyle/>
          <a:p>
            <a:pPr algn="ctr" indent="0" marL="0">
              <a:buNone/>
            </a:pPr>
            <a:r>
              <a:rPr lang="en-US" sz="1000" dirty="0">
                <a:solidFill>
                  <a:srgbClr val="8BAABF"/>
                </a:solidFill>
                <a:latin typeface="Calibri" pitchFamily="34" charset="0"/>
                <a:ea typeface="Calibri" pitchFamily="34" charset="-122"/>
                <a:cs typeface="Calibri" pitchFamily="34" charset="-120"/>
              </a:rPr>
              <a:t>Gauge + confidence + factors</a:t>
            </a:r>
            <a:endParaRPr lang="en-US" sz="1000" dirty="0"/>
          </a:p>
        </p:txBody>
      </p:sp>
      <p:sp>
        <p:nvSpPr>
          <p:cNvPr id="45" name="Shape 43"/>
          <p:cNvSpPr/>
          <p:nvPr/>
        </p:nvSpPr>
        <p:spPr>
          <a:xfrm>
            <a:off x="411480" y="3977640"/>
            <a:ext cx="8321040" cy="868680"/>
          </a:xfrm>
          <a:prstGeom prst="rect">
            <a:avLst/>
          </a:prstGeom>
          <a:solidFill>
            <a:srgbClr val="1A3A5C"/>
          </a:solidFill>
          <a:ln w="6350">
            <a:solidFill>
              <a:srgbClr val="1E4976"/>
            </a:solidFill>
            <a:prstDash val="solid"/>
          </a:ln>
        </p:spPr>
      </p:sp>
      <p:sp>
        <p:nvSpPr>
          <p:cNvPr id="46" name="Text 44"/>
          <p:cNvSpPr/>
          <p:nvPr/>
        </p:nvSpPr>
        <p:spPr>
          <a:xfrm>
            <a:off x="548640" y="4023360"/>
            <a:ext cx="8046720" cy="777240"/>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Key Design Decision: The scaler is fit exclusively on training data and serialized alongside the model — guaranteeing that production inference is mathematically identical to validation conditions. This eliminates data leakage and ensures reproducibility.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8090"/>
          </a:solidFill>
          <a:ln w="12700">
            <a:solidFill>
              <a:srgbClr val="028090"/>
            </a:solidFill>
            <a:prstDash val="solid"/>
          </a:ln>
        </p:spPr>
      </p:sp>
      <p:sp>
        <p:nvSpPr>
          <p:cNvPr id="3" name="Text 1"/>
          <p:cNvSpPr/>
          <p:nvPr/>
        </p:nvSpPr>
        <p:spPr>
          <a:xfrm>
            <a:off x="411480" y="256032"/>
            <a:ext cx="8229600" cy="411480"/>
          </a:xfrm>
          <a:prstGeom prst="rect">
            <a:avLst/>
          </a:prstGeom>
          <a:noFill/>
          <a:ln/>
        </p:spPr>
        <p:txBody>
          <a:bodyPr wrap="square" lIns="0" tIns="0" rIns="0" bIns="0" rtlCol="0" anchor="ctr"/>
          <a:lstStyle/>
          <a:p>
            <a:pPr indent="0" marL="0">
              <a:buNone/>
            </a:pPr>
            <a:r>
              <a:rPr lang="en-US" sz="2400" b="1" spc="200" kern="0" dirty="0">
                <a:solidFill>
                  <a:srgbClr val="FFFFFF"/>
                </a:solidFill>
                <a:latin typeface="Calibri" pitchFamily="34" charset="0"/>
                <a:ea typeface="Calibri" pitchFamily="34" charset="-122"/>
                <a:cs typeface="Calibri" pitchFamily="34" charset="-120"/>
              </a:rPr>
              <a:t>ROBUST BACKEND INTEGRATION</a:t>
            </a:r>
            <a:endParaRPr lang="en-US" sz="2400" dirty="0"/>
          </a:p>
        </p:txBody>
      </p:sp>
      <p:sp>
        <p:nvSpPr>
          <p:cNvPr id="4" name="Text 2"/>
          <p:cNvSpPr/>
          <p:nvPr/>
        </p:nvSpPr>
        <p:spPr>
          <a:xfrm>
            <a:off x="411480" y="667512"/>
            <a:ext cx="6400800" cy="274320"/>
          </a:xfrm>
          <a:prstGeom prst="rect">
            <a:avLst/>
          </a:prstGeom>
          <a:noFill/>
          <a:ln/>
        </p:spPr>
        <p:txBody>
          <a:bodyPr wrap="square" lIns="0" tIns="0" rIns="0" bIns="0" rtlCol="0" anchor="ctr"/>
          <a:lstStyle/>
          <a:p>
            <a:pPr indent="0" marL="0">
              <a:buNone/>
            </a:pPr>
            <a:r>
              <a:rPr lang="en-US" sz="1300" i="1" dirty="0">
                <a:solidFill>
                  <a:srgbClr val="8BAABF"/>
                </a:solidFill>
                <a:latin typeface="Calibri" pitchFamily="34" charset="0"/>
                <a:ea typeface="Calibri" pitchFamily="34" charset="-122"/>
                <a:cs typeface="Calibri" pitchFamily="34" charset="-120"/>
              </a:rPr>
              <a:t>Python FastAPI · Asynchronous · Millisecond Latency</a:t>
            </a:r>
            <a:endParaRPr lang="en-US" sz="1300" dirty="0"/>
          </a:p>
        </p:txBody>
      </p:sp>
      <p:sp>
        <p:nvSpPr>
          <p:cNvPr id="5" name="Text 3"/>
          <p:cNvSpPr/>
          <p:nvPr/>
        </p:nvSpPr>
        <p:spPr>
          <a:xfrm>
            <a:off x="502920" y="1051560"/>
            <a:ext cx="3931920" cy="347472"/>
          </a:xfrm>
          <a:prstGeom prst="rect">
            <a:avLst/>
          </a:prstGeom>
          <a:noFill/>
          <a:ln/>
        </p:spPr>
        <p:txBody>
          <a:bodyPr wrap="square" lIns="0" tIns="0" rIns="0" bIns="0" rtlCol="0" anchor="ctr"/>
          <a:lstStyle/>
          <a:p>
            <a:pPr indent="0" marL="0">
              <a:buNone/>
            </a:pPr>
            <a:r>
              <a:rPr lang="en-US" sz="1300" b="1" dirty="0">
                <a:solidFill>
                  <a:srgbClr val="00C6FF"/>
                </a:solidFill>
                <a:latin typeface="Calibri" pitchFamily="34" charset="0"/>
                <a:ea typeface="Calibri" pitchFamily="34" charset="-122"/>
                <a:cs typeface="Calibri" pitchFamily="34" charset="-120"/>
              </a:rPr>
              <a:t>⚡  Async Design</a:t>
            </a:r>
            <a:endParaRPr lang="en-US" sz="1300" dirty="0"/>
          </a:p>
        </p:txBody>
      </p:sp>
      <p:sp>
        <p:nvSpPr>
          <p:cNvPr id="6" name="Text 4"/>
          <p:cNvSpPr/>
          <p:nvPr/>
        </p:nvSpPr>
        <p:spPr>
          <a:xfrm>
            <a:off x="502920" y="1389888"/>
            <a:ext cx="3931920" cy="384048"/>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Built on Python asyncio — handles concurrent requests without blocking.</a:t>
            </a:r>
            <a:endParaRPr lang="en-US" sz="1150" dirty="0"/>
          </a:p>
        </p:txBody>
      </p:sp>
      <p:sp>
        <p:nvSpPr>
          <p:cNvPr id="7" name="Text 5"/>
          <p:cNvSpPr/>
          <p:nvPr/>
        </p:nvSpPr>
        <p:spPr>
          <a:xfrm>
            <a:off x="502920" y="1810512"/>
            <a:ext cx="3931920" cy="347472"/>
          </a:xfrm>
          <a:prstGeom prst="rect">
            <a:avLst/>
          </a:prstGeom>
          <a:noFill/>
          <a:ln/>
        </p:spPr>
        <p:txBody>
          <a:bodyPr wrap="square" lIns="0" tIns="0" rIns="0" bIns="0" rtlCol="0" anchor="ctr"/>
          <a:lstStyle/>
          <a:p>
            <a:pPr indent="0" marL="0">
              <a:buNone/>
            </a:pPr>
            <a:r>
              <a:rPr lang="en-US" sz="1300" b="1" dirty="0">
                <a:solidFill>
                  <a:srgbClr val="00C6FF"/>
                </a:solidFill>
                <a:latin typeface="Calibri" pitchFamily="34" charset="0"/>
                <a:ea typeface="Calibri" pitchFamily="34" charset="-122"/>
                <a:cs typeface="Calibri" pitchFamily="34" charset="-120"/>
              </a:rPr>
              <a:t>📋  OpenAPI Docs</a:t>
            </a:r>
            <a:endParaRPr lang="en-US" sz="1300" dirty="0"/>
          </a:p>
        </p:txBody>
      </p:sp>
      <p:sp>
        <p:nvSpPr>
          <p:cNvPr id="8" name="Text 6"/>
          <p:cNvSpPr/>
          <p:nvPr/>
        </p:nvSpPr>
        <p:spPr>
          <a:xfrm>
            <a:off x="502920" y="2148840"/>
            <a:ext cx="3931920" cy="384048"/>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Auto-generated Swagger UI for /predict, /predict/batch, /schema, /health.</a:t>
            </a:r>
            <a:endParaRPr lang="en-US" sz="1150" dirty="0"/>
          </a:p>
        </p:txBody>
      </p:sp>
      <p:sp>
        <p:nvSpPr>
          <p:cNvPr id="9" name="Text 7"/>
          <p:cNvSpPr/>
          <p:nvPr/>
        </p:nvSpPr>
        <p:spPr>
          <a:xfrm>
            <a:off x="502920" y="2569464"/>
            <a:ext cx="3931920" cy="347472"/>
          </a:xfrm>
          <a:prstGeom prst="rect">
            <a:avLst/>
          </a:prstGeom>
          <a:noFill/>
          <a:ln/>
        </p:spPr>
        <p:txBody>
          <a:bodyPr wrap="square" lIns="0" tIns="0" rIns="0" bIns="0" rtlCol="0" anchor="ctr"/>
          <a:lstStyle/>
          <a:p>
            <a:pPr indent="0" marL="0">
              <a:buNone/>
            </a:pPr>
            <a:r>
              <a:rPr lang="en-US" sz="1300" b="1" dirty="0">
                <a:solidFill>
                  <a:srgbClr val="00C6FF"/>
                </a:solidFill>
                <a:latin typeface="Calibri" pitchFamily="34" charset="0"/>
                <a:ea typeface="Calibri" pitchFamily="34" charset="-122"/>
                <a:cs typeface="Calibri" pitchFamily="34" charset="-120"/>
              </a:rPr>
              <a:t>🔒  Validated I/O</a:t>
            </a:r>
            <a:endParaRPr lang="en-US" sz="1300" dirty="0"/>
          </a:p>
        </p:txBody>
      </p:sp>
      <p:sp>
        <p:nvSpPr>
          <p:cNvPr id="10" name="Text 8"/>
          <p:cNvSpPr/>
          <p:nvPr/>
        </p:nvSpPr>
        <p:spPr>
          <a:xfrm>
            <a:off x="502920" y="2907792"/>
            <a:ext cx="3931920" cy="384048"/>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Pydantic models enforce strict input contracts — malformed data is rejected at the gateway.</a:t>
            </a:r>
            <a:endParaRPr lang="en-US" sz="1150" dirty="0"/>
          </a:p>
        </p:txBody>
      </p:sp>
      <p:sp>
        <p:nvSpPr>
          <p:cNvPr id="11" name="Text 9"/>
          <p:cNvSpPr/>
          <p:nvPr/>
        </p:nvSpPr>
        <p:spPr>
          <a:xfrm>
            <a:off x="502920" y="3328416"/>
            <a:ext cx="3931920" cy="347472"/>
          </a:xfrm>
          <a:prstGeom prst="rect">
            <a:avLst/>
          </a:prstGeom>
          <a:noFill/>
          <a:ln/>
        </p:spPr>
        <p:txBody>
          <a:bodyPr wrap="square" lIns="0" tIns="0" rIns="0" bIns="0" rtlCol="0" anchor="ctr"/>
          <a:lstStyle/>
          <a:p>
            <a:pPr indent="0" marL="0">
              <a:buNone/>
            </a:pPr>
            <a:r>
              <a:rPr lang="en-US" sz="1300" b="1" dirty="0">
                <a:solidFill>
                  <a:srgbClr val="00C6FF"/>
                </a:solidFill>
                <a:latin typeface="Calibri" pitchFamily="34" charset="0"/>
                <a:ea typeface="Calibri" pitchFamily="34" charset="-122"/>
                <a:cs typeface="Calibri" pitchFamily="34" charset="-120"/>
              </a:rPr>
              <a:t>📦  Batch Endpoint</a:t>
            </a:r>
            <a:endParaRPr lang="en-US" sz="1300" dirty="0"/>
          </a:p>
        </p:txBody>
      </p:sp>
      <p:sp>
        <p:nvSpPr>
          <p:cNvPr id="12" name="Text 10"/>
          <p:cNvSpPr/>
          <p:nvPr/>
        </p:nvSpPr>
        <p:spPr>
          <a:xfrm>
            <a:off x="502920" y="3666744"/>
            <a:ext cx="3931920" cy="384048"/>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POST /predict/batch processes multiple trials in a single request for throughput.</a:t>
            </a:r>
            <a:endParaRPr lang="en-US" sz="1150" dirty="0"/>
          </a:p>
        </p:txBody>
      </p:sp>
      <p:sp>
        <p:nvSpPr>
          <p:cNvPr id="13" name="Text 11"/>
          <p:cNvSpPr/>
          <p:nvPr/>
        </p:nvSpPr>
        <p:spPr>
          <a:xfrm>
            <a:off x="502920" y="4087368"/>
            <a:ext cx="3931920" cy="347472"/>
          </a:xfrm>
          <a:prstGeom prst="rect">
            <a:avLst/>
          </a:prstGeom>
          <a:noFill/>
          <a:ln/>
        </p:spPr>
        <p:txBody>
          <a:bodyPr wrap="square" lIns="0" tIns="0" rIns="0" bIns="0" rtlCol="0" anchor="ctr"/>
          <a:lstStyle/>
          <a:p>
            <a:pPr indent="0" marL="0">
              <a:buNone/>
            </a:pPr>
            <a:r>
              <a:rPr lang="en-US" sz="1300" b="1" dirty="0">
                <a:solidFill>
                  <a:srgbClr val="00C6FF"/>
                </a:solidFill>
                <a:latin typeface="Calibri" pitchFamily="34" charset="0"/>
                <a:ea typeface="Calibri" pitchFamily="34" charset="-122"/>
                <a:cs typeface="Calibri" pitchFamily="34" charset="-120"/>
              </a:rPr>
              <a:t>🔍  SHAP Responses</a:t>
            </a:r>
            <a:endParaRPr lang="en-US" sz="1300" dirty="0"/>
          </a:p>
        </p:txBody>
      </p:sp>
      <p:sp>
        <p:nvSpPr>
          <p:cNvPr id="14" name="Text 12"/>
          <p:cNvSpPr/>
          <p:nvPr/>
        </p:nvSpPr>
        <p:spPr>
          <a:xfrm>
            <a:off x="502920" y="4425696"/>
            <a:ext cx="3931920" cy="384048"/>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Every prediction response includes per-feature SHAP contributions for full transparency.</a:t>
            </a:r>
            <a:endParaRPr lang="en-US" sz="1150" dirty="0"/>
          </a:p>
        </p:txBody>
      </p:sp>
      <p:sp>
        <p:nvSpPr>
          <p:cNvPr id="15" name="Shape 13"/>
          <p:cNvSpPr/>
          <p:nvPr/>
        </p:nvSpPr>
        <p:spPr>
          <a:xfrm>
            <a:off x="4709160" y="777240"/>
            <a:ext cx="4206240" cy="411480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pic>
        <p:nvPicPr>
          <p:cNvPr id="16" name="Image 0" descr="preencoded.png">    </p:cNvPr>
          <p:cNvPicPr>
            <a:picLocks noChangeAspect="1"/>
          </p:cNvPicPr>
          <p:nvPr/>
        </p:nvPicPr>
        <p:blipFill>
          <a:blip r:embed="rId1"/>
          <a:srcRect l="0" r="0" t="0" b="0"/>
          <a:stretch/>
        </p:blipFill>
        <p:spPr>
          <a:xfrm>
            <a:off x="4754880" y="822960"/>
            <a:ext cx="4114800" cy="40233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914400" y="-914400"/>
            <a:ext cx="5486400" cy="5486400"/>
          </a:xfrm>
          <a:prstGeom prst="ellipse">
            <a:avLst/>
          </a:prstGeom>
          <a:solidFill>
            <a:srgbClr val="00C6FF">
              <a:alpha val="7000"/>
            </a:srgbClr>
          </a:solidFill>
          <a:ln w="6350">
            <a:solidFill>
              <a:srgbClr val="00C6FF">
                <a:alpha val="12000"/>
              </a:srgbClr>
            </a:solidFill>
            <a:prstDash val="solid"/>
          </a:ln>
        </p:spPr>
      </p:sp>
      <p:sp>
        <p:nvSpPr>
          <p:cNvPr id="3" name="Shape 1"/>
          <p:cNvSpPr/>
          <p:nvPr/>
        </p:nvSpPr>
        <p:spPr>
          <a:xfrm>
            <a:off x="5029200" y="1371600"/>
            <a:ext cx="5029200" cy="5029200"/>
          </a:xfrm>
          <a:prstGeom prst="ellipse">
            <a:avLst/>
          </a:prstGeom>
          <a:solidFill>
            <a:srgbClr val="02C39A">
              <a:alpha val="7000"/>
            </a:srgbClr>
          </a:solidFill>
          <a:ln w="6350">
            <a:solidFill>
              <a:srgbClr val="02C39A">
                <a:alpha val="12000"/>
              </a:srgbClr>
            </a:solidFill>
            <a:prstDash val="solid"/>
          </a:ln>
        </p:spPr>
      </p:sp>
      <p:sp>
        <p:nvSpPr>
          <p:cNvPr id="4" name="Shape 2"/>
          <p:cNvSpPr/>
          <p:nvPr/>
        </p:nvSpPr>
        <p:spPr>
          <a:xfrm>
            <a:off x="1828800" y="1005840"/>
            <a:ext cx="5486400" cy="3200400"/>
          </a:xfrm>
          <a:prstGeom prst="rect">
            <a:avLst/>
          </a:prstGeom>
          <a:solidFill>
            <a:srgbClr val="162A3F"/>
          </a:solidFill>
          <a:ln w="19050">
            <a:solidFill>
              <a:srgbClr val="00C6FF"/>
            </a:solidFill>
            <a:prstDash val="solid"/>
          </a:ln>
          <a:effectLst>
            <a:outerShdw sx="100000" sy="100000" kx="0" ky="0" algn="bl" rotWithShape="0" blurRad="101600" dist="38100" dir="8100000">
              <a:srgbClr val="000000">
                <a:alpha val="35000"/>
              </a:srgbClr>
            </a:outerShdw>
          </a:effectLst>
        </p:spPr>
      </p:sp>
      <p:sp>
        <p:nvSpPr>
          <p:cNvPr id="5" name="Text 3"/>
          <p:cNvSpPr/>
          <p:nvPr/>
        </p:nvSpPr>
        <p:spPr>
          <a:xfrm>
            <a:off x="1828800" y="1188720"/>
            <a:ext cx="5486400" cy="731520"/>
          </a:xfrm>
          <a:prstGeom prst="rect">
            <a:avLst/>
          </a:prstGeom>
          <a:noFill/>
          <a:ln/>
        </p:spPr>
        <p:txBody>
          <a:bodyPr wrap="square" lIns="0" tIns="0" rIns="0" bIns="0" rtlCol="0" anchor="ctr"/>
          <a:lstStyle/>
          <a:p>
            <a:pPr algn="ctr" indent="0" marL="0">
              <a:buNone/>
            </a:pPr>
            <a:r>
              <a:rPr lang="en-US" sz="4200" dirty="0">
                <a:solidFill>
                  <a:srgbClr val="000000"/>
                </a:solidFill>
              </a:rPr>
              <a:t>🎬</a:t>
            </a:r>
            <a:endParaRPr lang="en-US" sz="4200" dirty="0"/>
          </a:p>
        </p:txBody>
      </p:sp>
      <p:sp>
        <p:nvSpPr>
          <p:cNvPr id="6" name="Text 4"/>
          <p:cNvSpPr/>
          <p:nvPr/>
        </p:nvSpPr>
        <p:spPr>
          <a:xfrm>
            <a:off x="1828800" y="1965960"/>
            <a:ext cx="5486400" cy="594360"/>
          </a:xfrm>
          <a:prstGeom prst="rect">
            <a:avLst/>
          </a:prstGeom>
          <a:noFill/>
          <a:ln/>
        </p:spPr>
        <p:txBody>
          <a:bodyPr wrap="square" lIns="0" tIns="0" rIns="0" bIns="0" rtlCol="0" anchor="ctr"/>
          <a:lstStyle/>
          <a:p>
            <a:pPr algn="ctr" indent="0" marL="0">
              <a:buNone/>
            </a:pPr>
            <a:r>
              <a:rPr lang="en-US" sz="2800" b="1" spc="300" kern="0" dirty="0">
                <a:solidFill>
                  <a:srgbClr val="FFFFFF"/>
                </a:solidFill>
                <a:latin typeface="Calibri" pitchFamily="34" charset="0"/>
                <a:ea typeface="Calibri" pitchFamily="34" charset="-122"/>
                <a:cs typeface="Calibri" pitchFamily="34" charset="-120"/>
              </a:rPr>
              <a:t>LIVE DEMONSTRATION</a:t>
            </a:r>
            <a:endParaRPr lang="en-US" sz="2800" dirty="0"/>
          </a:p>
        </p:txBody>
      </p:sp>
      <p:sp>
        <p:nvSpPr>
          <p:cNvPr id="7" name="Text 5"/>
          <p:cNvSpPr/>
          <p:nvPr/>
        </p:nvSpPr>
        <p:spPr>
          <a:xfrm>
            <a:off x="1828800" y="2578608"/>
            <a:ext cx="5486400" cy="347472"/>
          </a:xfrm>
          <a:prstGeom prst="rect">
            <a:avLst/>
          </a:prstGeom>
          <a:noFill/>
          <a:ln/>
        </p:spPr>
        <p:txBody>
          <a:bodyPr wrap="square" lIns="0" tIns="0" rIns="0" bIns="0" rtlCol="0" anchor="ctr"/>
          <a:lstStyle/>
          <a:p>
            <a:pPr algn="ctr" indent="0" marL="0">
              <a:buNone/>
            </a:pPr>
            <a:r>
              <a:rPr lang="en-US" sz="1500" i="1" dirty="0">
                <a:solidFill>
                  <a:srgbClr val="00C6FF"/>
                </a:solidFill>
                <a:latin typeface="Calibri" pitchFamily="34" charset="0"/>
                <a:ea typeface="Calibri" pitchFamily="34" charset="-122"/>
                <a:cs typeface="Calibri" pitchFamily="34" charset="-120"/>
              </a:rPr>
              <a:t>Switching to the browser now</a:t>
            </a:r>
            <a:endParaRPr lang="en-US" sz="1500" dirty="0"/>
          </a:p>
        </p:txBody>
      </p:sp>
      <p:sp>
        <p:nvSpPr>
          <p:cNvPr id="8" name="Text 6"/>
          <p:cNvSpPr/>
          <p:nvPr/>
        </p:nvSpPr>
        <p:spPr>
          <a:xfrm>
            <a:off x="1828800" y="2999232"/>
            <a:ext cx="5486400" cy="640080"/>
          </a:xfrm>
          <a:prstGeom prst="rect">
            <a:avLst/>
          </a:prstGeom>
          <a:noFill/>
          <a:ln/>
        </p:spPr>
        <p:txBody>
          <a:bodyPr wrap="square" lIns="0" tIns="0" rIns="0" bIns="0" rtlCol="0" anchor="ctr"/>
          <a:lstStyle/>
          <a:p>
            <a:pPr algn="ctr" indent="0" marL="0">
              <a:buNone/>
            </a:pPr>
            <a:r>
              <a:rPr lang="en-US" sz="1200" dirty="0">
                <a:solidFill>
                  <a:srgbClr val="8BAABF"/>
                </a:solidFill>
                <a:latin typeface="Calibri" pitchFamily="34" charset="0"/>
                <a:ea typeface="Calibri" pitchFamily="34" charset="-122"/>
                <a:cs typeface="Calibri" pitchFamily="34" charset="-120"/>
              </a:rPr>
              <a:t>Load Fatigued Profile · Adjust sliders · Observe real-time prediction</a:t>
            </a:r>
            <a:endParaRPr lang="en-US" sz="1200" dirty="0"/>
          </a:p>
        </p:txBody>
      </p:sp>
      <p:sp>
        <p:nvSpPr>
          <p:cNvPr id="9" name="Text 7"/>
          <p:cNvSpPr/>
          <p:nvPr/>
        </p:nvSpPr>
        <p:spPr>
          <a:xfrm>
            <a:off x="0" y="4754880"/>
            <a:ext cx="9144000" cy="274320"/>
          </a:xfrm>
          <a:prstGeom prst="rect">
            <a:avLst/>
          </a:prstGeom>
          <a:noFill/>
          <a:ln/>
        </p:spPr>
        <p:txBody>
          <a:bodyPr wrap="square" lIns="0" tIns="0" rIns="0" bIns="0" rtlCol="0" anchor="ctr"/>
          <a:lstStyle/>
          <a:p>
            <a:pPr algn="ctr" indent="0" marL="0">
              <a:buNone/>
            </a:pPr>
            <a:r>
              <a:rPr lang="en-US" sz="1000" dirty="0">
                <a:solidFill>
                  <a:srgbClr val="8BAABF"/>
                </a:solidFill>
                <a:latin typeface="Calibri" pitchFamily="34" charset="0"/>
                <a:ea typeface="Calibri" pitchFamily="34" charset="-122"/>
                <a:cs typeface="Calibri" pitchFamily="34" charset="-120"/>
              </a:rPr>
              <a:t>localhost:8080  ·  XGBoost Model  ·  FastAPI Connected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C6FF"/>
          </a:solidFill>
          <a:ln w="12700">
            <a:solidFill>
              <a:srgbClr val="00C6FF"/>
            </a:solidFill>
            <a:prstDash val="solid"/>
          </a:ln>
        </p:spPr>
      </p:sp>
      <p:sp>
        <p:nvSpPr>
          <p:cNvPr id="3" name="Text 1"/>
          <p:cNvSpPr/>
          <p:nvPr/>
        </p:nvSpPr>
        <p:spPr>
          <a:xfrm>
            <a:off x="411480" y="182880"/>
            <a:ext cx="8229600" cy="411480"/>
          </a:xfrm>
          <a:prstGeom prst="rect">
            <a:avLst/>
          </a:prstGeom>
          <a:noFill/>
          <a:ln/>
        </p:spPr>
        <p:txBody>
          <a:bodyPr wrap="square" lIns="0" tIns="0" rIns="0" bIns="0" rtlCol="0" anchor="ctr"/>
          <a:lstStyle/>
          <a:p>
            <a:pPr indent="0" marL="0">
              <a:buNone/>
            </a:pPr>
            <a:r>
              <a:rPr lang="en-US" sz="2400" b="1" spc="200" kern="0" dirty="0">
                <a:solidFill>
                  <a:srgbClr val="FFFFFF"/>
                </a:solidFill>
                <a:latin typeface="Calibri" pitchFamily="34" charset="0"/>
                <a:ea typeface="Calibri" pitchFamily="34" charset="-122"/>
                <a:cs typeface="Calibri" pitchFamily="34" charset="-120"/>
              </a:rPr>
              <a:t>THE USER INTERFACE</a:t>
            </a:r>
            <a:endParaRPr lang="en-US" sz="2400" dirty="0"/>
          </a:p>
        </p:txBody>
      </p:sp>
      <p:sp>
        <p:nvSpPr>
          <p:cNvPr id="4" name="Text 2"/>
          <p:cNvSpPr/>
          <p:nvPr/>
        </p:nvSpPr>
        <p:spPr>
          <a:xfrm>
            <a:off x="411480" y="576072"/>
            <a:ext cx="8229600" cy="256032"/>
          </a:xfrm>
          <a:prstGeom prst="rect">
            <a:avLst/>
          </a:prstGeom>
          <a:noFill/>
          <a:ln/>
        </p:spPr>
        <p:txBody>
          <a:bodyPr wrap="square" lIns="0" tIns="0" rIns="0" bIns="0" rtlCol="0" anchor="ctr"/>
          <a:lstStyle/>
          <a:p>
            <a:pPr indent="0" marL="0">
              <a:buNone/>
            </a:pPr>
            <a:r>
              <a:rPr lang="en-US" sz="1200" i="1" dirty="0">
                <a:solidFill>
                  <a:srgbClr val="8BAABF"/>
                </a:solidFill>
                <a:latin typeface="Calibri" pitchFamily="34" charset="0"/>
                <a:ea typeface="Calibri" pitchFamily="34" charset="-122"/>
                <a:cs typeface="Calibri" pitchFamily="34" charset="-120"/>
              </a:rPr>
              <a:t>Premium Dark Mode · Glassmorphic Design · Real-Time Feedback</a:t>
            </a:r>
            <a:endParaRPr lang="en-US" sz="1200" dirty="0"/>
          </a:p>
        </p:txBody>
      </p:sp>
      <p:sp>
        <p:nvSpPr>
          <p:cNvPr id="5" name="Shape 3"/>
          <p:cNvSpPr/>
          <p:nvPr/>
        </p:nvSpPr>
        <p:spPr>
          <a:xfrm>
            <a:off x="411480" y="868680"/>
            <a:ext cx="4754880" cy="397764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pic>
        <p:nvPicPr>
          <p:cNvPr id="6" name="Image 0" descr="preencoded.png">    </p:cNvPr>
          <p:cNvPicPr>
            <a:picLocks noChangeAspect="1"/>
          </p:cNvPicPr>
          <p:nvPr/>
        </p:nvPicPr>
        <p:blipFill>
          <a:blip r:embed="rId1"/>
          <a:srcRect l="0" r="0" t="0" b="0"/>
          <a:stretch/>
        </p:blipFill>
        <p:spPr>
          <a:xfrm>
            <a:off x="457200" y="914400"/>
            <a:ext cx="4663440" cy="3886200"/>
          </a:xfrm>
          <a:prstGeom prst="rect">
            <a:avLst/>
          </a:prstGeom>
        </p:spPr>
      </p:pic>
      <p:sp>
        <p:nvSpPr>
          <p:cNvPr id="7" name="Shape 4"/>
          <p:cNvSpPr/>
          <p:nvPr/>
        </p:nvSpPr>
        <p:spPr>
          <a:xfrm>
            <a:off x="5303520" y="868680"/>
            <a:ext cx="3566160" cy="182880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pic>
        <p:nvPicPr>
          <p:cNvPr id="8" name="Image 1" descr="preencoded.png">    </p:cNvPr>
          <p:cNvPicPr>
            <a:picLocks noChangeAspect="1"/>
          </p:cNvPicPr>
          <p:nvPr/>
        </p:nvPicPr>
        <p:blipFill>
          <a:blip r:embed="rId2"/>
          <a:srcRect l="0" r="0" t="0" b="0"/>
          <a:stretch/>
        </p:blipFill>
        <p:spPr>
          <a:xfrm>
            <a:off x="5330952" y="886968"/>
            <a:ext cx="3520440" cy="1792224"/>
          </a:xfrm>
          <a:prstGeom prst="rect">
            <a:avLst/>
          </a:prstGeom>
        </p:spPr>
      </p:pic>
      <p:sp>
        <p:nvSpPr>
          <p:cNvPr id="9" name="Text 5"/>
          <p:cNvSpPr/>
          <p:nvPr/>
        </p:nvSpPr>
        <p:spPr>
          <a:xfrm>
            <a:off x="5303520" y="2633472"/>
            <a:ext cx="3566160" cy="201168"/>
          </a:xfrm>
          <a:prstGeom prst="rect">
            <a:avLst/>
          </a:prstGeom>
          <a:noFill/>
          <a:ln/>
        </p:spPr>
        <p:txBody>
          <a:bodyPr wrap="square" lIns="0" tIns="0" rIns="0" bIns="0" rtlCol="0" anchor="ctr"/>
          <a:lstStyle/>
          <a:p>
            <a:pPr algn="ctr" indent="0" marL="0">
              <a:buNone/>
            </a:pPr>
            <a:r>
              <a:rPr lang="en-US" sz="850" i="1" dirty="0">
                <a:solidFill>
                  <a:srgbClr val="8BAABF"/>
                </a:solidFill>
                <a:latin typeface="Calibri" pitchFamily="34" charset="0"/>
                <a:ea typeface="Calibri" pitchFamily="34" charset="-122"/>
                <a:cs typeface="Calibri" pitchFamily="34" charset="-120"/>
              </a:rPr>
              <a:t>Expert Mode + Contextual Tooltips</a:t>
            </a:r>
            <a:endParaRPr lang="en-US" sz="850" dirty="0"/>
          </a:p>
        </p:txBody>
      </p:sp>
      <p:sp>
        <p:nvSpPr>
          <p:cNvPr id="10" name="Text 6"/>
          <p:cNvSpPr/>
          <p:nvPr/>
        </p:nvSpPr>
        <p:spPr>
          <a:xfrm>
            <a:off x="5303520" y="2880360"/>
            <a:ext cx="3566160" cy="1965960"/>
          </a:xfrm>
          <a:prstGeom prst="rect">
            <a:avLst/>
          </a:prstGeom>
          <a:noFill/>
          <a:ln/>
        </p:spPr>
        <p:txBody>
          <a:bodyPr wrap="square" lIns="0" tIns="0" rIns="0" bIns="0" rtlCol="0" anchor="t"/>
          <a:lstStyle/>
          <a:p>
            <a:pPr indent="0" marL="0">
              <a:buNone/>
            </a:pPr>
            <a:r>
              <a:rPr lang="en-US" sz="1150" dirty="0">
                <a:solidFill>
                  <a:srgbClr val="E8EFF6"/>
                </a:solidFill>
                <a:latin typeface="Calibri" pitchFamily="34" charset="0"/>
                <a:ea typeface="Calibri" pitchFamily="34" charset="-122"/>
                <a:cs typeface="Calibri" pitchFamily="34" charset="-120"/>
              </a:rPr>
              <a:t>▸  19 interactive feature sliders across 4 groups
</a:t>
            </a:r>
            <a:pPr indent="0" marL="0">
              <a:buNone/>
            </a:pPr>
            <a:r>
              <a:rPr lang="en-US" sz="1150" dirty="0">
                <a:solidFill>
                  <a:srgbClr val="E8EFF6"/>
                </a:solidFill>
                <a:latin typeface="Calibri" pitchFamily="34" charset="0"/>
                <a:ea typeface="Calibri" pitchFamily="34" charset="-122"/>
                <a:cs typeface="Calibri" pitchFamily="34" charset="-120"/>
              </a:rPr>
              <a:t>▸  Animated probability gauge (0–100%)
</a:t>
            </a:r>
            <a:pPr indent="0" marL="0">
              <a:buNone/>
            </a:pPr>
            <a:r>
              <a:rPr lang="en-US" sz="1150" dirty="0">
                <a:solidFill>
                  <a:srgbClr val="E8EFF6"/>
                </a:solidFill>
                <a:latin typeface="Calibri" pitchFamily="34" charset="0"/>
                <a:ea typeface="Calibri" pitchFamily="34" charset="-122"/>
                <a:cs typeface="Calibri" pitchFamily="34" charset="-120"/>
              </a:rPr>
              <a:t>▸  Simple / Expert mode toggle
</a:t>
            </a:r>
            <a:pPr indent="0" marL="0">
              <a:buNone/>
            </a:pPr>
            <a:r>
              <a:rPr lang="en-US" sz="1150" dirty="0">
                <a:solidFill>
                  <a:srgbClr val="E8EFF6"/>
                </a:solidFill>
                <a:latin typeface="Calibri" pitchFamily="34" charset="0"/>
                <a:ea typeface="Calibri" pitchFamily="34" charset="-122"/>
                <a:cs typeface="Calibri" pitchFamily="34" charset="-120"/>
              </a:rPr>
              <a:t>▸  Top-3 SHAP factors visualized as bars
</a:t>
            </a:r>
            <a:pPr indent="0" marL="0">
              <a:buNone/>
            </a:pPr>
            <a:r>
              <a:rPr lang="en-US" sz="1150" dirty="0">
                <a:solidFill>
                  <a:srgbClr val="E8EFF6"/>
                </a:solidFill>
                <a:latin typeface="Calibri" pitchFamily="34" charset="0"/>
                <a:ea typeface="Calibri" pitchFamily="34" charset="-122"/>
                <a:cs typeface="Calibri" pitchFamily="34" charset="-120"/>
              </a:rPr>
              <a:t>▸  Model badge + API connection status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2C39A"/>
          </a:solidFill>
          <a:ln w="12700">
            <a:solidFill>
              <a:srgbClr val="02C39A"/>
            </a:solidFill>
            <a:prstDash val="solid"/>
          </a:ln>
        </p:spPr>
      </p:sp>
      <p:sp>
        <p:nvSpPr>
          <p:cNvPr id="3" name="Text 1"/>
          <p:cNvSpPr/>
          <p:nvPr/>
        </p:nvSpPr>
        <p:spPr>
          <a:xfrm>
            <a:off x="411480" y="182880"/>
            <a:ext cx="8229600" cy="411480"/>
          </a:xfrm>
          <a:prstGeom prst="rect">
            <a:avLst/>
          </a:prstGeom>
          <a:noFill/>
          <a:ln/>
        </p:spPr>
        <p:txBody>
          <a:bodyPr wrap="square" lIns="0" tIns="0" rIns="0" bIns="0" rtlCol="0" anchor="ctr"/>
          <a:lstStyle/>
          <a:p>
            <a:pPr indent="0" marL="0">
              <a:buNone/>
            </a:pPr>
            <a:r>
              <a:rPr lang="en-US" sz="2400" b="1" spc="200" kern="0" dirty="0">
                <a:solidFill>
                  <a:srgbClr val="FFFFFF"/>
                </a:solidFill>
                <a:latin typeface="Calibri" pitchFamily="34" charset="0"/>
                <a:ea typeface="Calibri" pitchFamily="34" charset="-122"/>
                <a:cs typeface="Calibri" pitchFamily="34" charset="-120"/>
              </a:rPr>
              <a:t>RESULTS &amp; EXPLAINABILITY</a:t>
            </a:r>
            <a:endParaRPr lang="en-US" sz="2400" dirty="0"/>
          </a:p>
        </p:txBody>
      </p:sp>
      <p:sp>
        <p:nvSpPr>
          <p:cNvPr id="4" name="Text 2"/>
          <p:cNvSpPr/>
          <p:nvPr/>
        </p:nvSpPr>
        <p:spPr>
          <a:xfrm>
            <a:off x="411480" y="576072"/>
            <a:ext cx="8229600" cy="256032"/>
          </a:xfrm>
          <a:prstGeom prst="rect">
            <a:avLst/>
          </a:prstGeom>
          <a:noFill/>
          <a:ln/>
        </p:spPr>
        <p:txBody>
          <a:bodyPr wrap="square" lIns="0" tIns="0" rIns="0" bIns="0" rtlCol="0" anchor="ctr"/>
          <a:lstStyle/>
          <a:p>
            <a:pPr indent="0" marL="0">
              <a:buNone/>
            </a:pPr>
            <a:r>
              <a:rPr lang="en-US" sz="1200" i="1" dirty="0">
                <a:solidFill>
                  <a:srgbClr val="8BAABF"/>
                </a:solidFill>
                <a:latin typeface="Calibri" pitchFamily="34" charset="0"/>
                <a:ea typeface="Calibri" pitchFamily="34" charset="-122"/>
                <a:cs typeface="Calibri" pitchFamily="34" charset="-120"/>
              </a:rPr>
              <a:t>SHAP Analysis · Feature Attribution · Temporal Dominance</a:t>
            </a:r>
            <a:endParaRPr lang="en-US" sz="1200" dirty="0"/>
          </a:p>
        </p:txBody>
      </p:sp>
      <p:sp>
        <p:nvSpPr>
          <p:cNvPr id="5" name="Shape 3"/>
          <p:cNvSpPr/>
          <p:nvPr/>
        </p:nvSpPr>
        <p:spPr>
          <a:xfrm>
            <a:off x="4297680" y="822960"/>
            <a:ext cx="4572000" cy="402336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pic>
        <p:nvPicPr>
          <p:cNvPr id="6" name="Image 0" descr="preencoded.png">    </p:cNvPr>
          <p:cNvPicPr>
            <a:picLocks noChangeAspect="1"/>
          </p:cNvPicPr>
          <p:nvPr/>
        </p:nvPicPr>
        <p:blipFill>
          <a:blip r:embed="rId1"/>
          <a:srcRect l="0" r="0" t="0" b="0"/>
          <a:stretch/>
        </p:blipFill>
        <p:spPr>
          <a:xfrm>
            <a:off x="4325112" y="850392"/>
            <a:ext cx="4517136" cy="3968496"/>
          </a:xfrm>
          <a:prstGeom prst="rect">
            <a:avLst/>
          </a:prstGeom>
        </p:spPr>
      </p:pic>
      <p:sp>
        <p:nvSpPr>
          <p:cNvPr id="7" name="Shape 4"/>
          <p:cNvSpPr/>
          <p:nvPr/>
        </p:nvSpPr>
        <p:spPr>
          <a:xfrm>
            <a:off x="411480" y="914400"/>
            <a:ext cx="3657600" cy="914400"/>
          </a:xfrm>
          <a:prstGeom prst="rect">
            <a:avLst/>
          </a:prstGeom>
          <a:solidFill>
            <a:srgbClr val="162A3F"/>
          </a:solidFill>
          <a:ln w="12700">
            <a:solidFill>
              <a:srgbClr val="02C39A"/>
            </a:solidFill>
            <a:prstDash val="solid"/>
          </a:ln>
          <a:effectLst>
            <a:outerShdw sx="100000" sy="100000" kx="0" ky="0" algn="bl" rotWithShape="0" blurRad="101600" dist="38100" dir="8100000">
              <a:srgbClr val="000000">
                <a:alpha val="35000"/>
              </a:srgbClr>
            </a:outerShdw>
          </a:effectLst>
        </p:spPr>
      </p:sp>
      <p:sp>
        <p:nvSpPr>
          <p:cNvPr id="8" name="Shape 5"/>
          <p:cNvSpPr/>
          <p:nvPr/>
        </p:nvSpPr>
        <p:spPr>
          <a:xfrm>
            <a:off x="411480" y="914400"/>
            <a:ext cx="54864" cy="914400"/>
          </a:xfrm>
          <a:prstGeom prst="rect">
            <a:avLst/>
          </a:prstGeom>
          <a:solidFill>
            <a:srgbClr val="02C39A"/>
          </a:solidFill>
          <a:ln w="12700">
            <a:solidFill>
              <a:srgbClr val="02C39A"/>
            </a:solidFill>
            <a:prstDash val="solid"/>
          </a:ln>
        </p:spPr>
      </p:sp>
      <p:sp>
        <p:nvSpPr>
          <p:cNvPr id="9" name="Text 6"/>
          <p:cNvSpPr/>
          <p:nvPr/>
        </p:nvSpPr>
        <p:spPr>
          <a:xfrm>
            <a:off x="548640" y="978408"/>
            <a:ext cx="3429000" cy="292608"/>
          </a:xfrm>
          <a:prstGeom prst="rect">
            <a:avLst/>
          </a:prstGeom>
          <a:noFill/>
          <a:ln/>
        </p:spPr>
        <p:txBody>
          <a:bodyPr wrap="square" lIns="0" tIns="0" rIns="0" bIns="0"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Top Driver: rolling_incon_5</a:t>
            </a:r>
            <a:endParaRPr lang="en-US" sz="1200" dirty="0"/>
          </a:p>
        </p:txBody>
      </p:sp>
      <p:sp>
        <p:nvSpPr>
          <p:cNvPr id="10" name="Text 7"/>
          <p:cNvSpPr/>
          <p:nvPr/>
        </p:nvSpPr>
        <p:spPr>
          <a:xfrm>
            <a:off x="548640" y="1280160"/>
            <a:ext cx="3429000" cy="512064"/>
          </a:xfrm>
          <a:prstGeom prst="rect">
            <a:avLst/>
          </a:prstGeom>
          <a:noFill/>
          <a:ln/>
        </p:spPr>
        <p:txBody>
          <a:bodyPr wrap="square" lIns="0" tIns="0" rIns="0" bIns="0" rtlCol="0" anchor="ctr"/>
          <a:lstStyle/>
          <a:p>
            <a:pPr indent="0" marL="0">
              <a:buNone/>
            </a:pPr>
            <a:r>
              <a:rPr lang="en-US" sz="1100" dirty="0">
                <a:solidFill>
                  <a:srgbClr val="E8EFF6"/>
                </a:solidFill>
                <a:latin typeface="Calibri" pitchFamily="34" charset="0"/>
                <a:ea typeface="Calibri" pitchFamily="34" charset="-122"/>
                <a:cs typeface="Calibri" pitchFamily="34" charset="-120"/>
              </a:rPr>
              <a:t>MI Score 0.44 — Short-window choice inconsistency is the single most predictive fatigue signal.</a:t>
            </a:r>
            <a:endParaRPr lang="en-US" sz="1100" dirty="0"/>
          </a:p>
        </p:txBody>
      </p:sp>
      <p:sp>
        <p:nvSpPr>
          <p:cNvPr id="11" name="Shape 8"/>
          <p:cNvSpPr/>
          <p:nvPr/>
        </p:nvSpPr>
        <p:spPr>
          <a:xfrm>
            <a:off x="411480" y="1920240"/>
            <a:ext cx="3657600" cy="914400"/>
          </a:xfrm>
          <a:prstGeom prst="rect">
            <a:avLst/>
          </a:prstGeom>
          <a:solidFill>
            <a:srgbClr val="162A3F"/>
          </a:solidFill>
          <a:ln w="12700">
            <a:solidFill>
              <a:srgbClr val="00C6FF"/>
            </a:solidFill>
            <a:prstDash val="solid"/>
          </a:ln>
          <a:effectLst>
            <a:outerShdw sx="100000" sy="100000" kx="0" ky="0" algn="bl" rotWithShape="0" blurRad="101600" dist="38100" dir="8100000">
              <a:srgbClr val="000000">
                <a:alpha val="35000"/>
              </a:srgbClr>
            </a:outerShdw>
          </a:effectLst>
        </p:spPr>
      </p:sp>
      <p:sp>
        <p:nvSpPr>
          <p:cNvPr id="12" name="Shape 9"/>
          <p:cNvSpPr/>
          <p:nvPr/>
        </p:nvSpPr>
        <p:spPr>
          <a:xfrm>
            <a:off x="411480" y="1920240"/>
            <a:ext cx="54864" cy="914400"/>
          </a:xfrm>
          <a:prstGeom prst="rect">
            <a:avLst/>
          </a:prstGeom>
          <a:solidFill>
            <a:srgbClr val="00C6FF"/>
          </a:solidFill>
          <a:ln w="12700">
            <a:solidFill>
              <a:srgbClr val="00C6FF"/>
            </a:solidFill>
            <a:prstDash val="solid"/>
          </a:ln>
        </p:spPr>
      </p:sp>
      <p:sp>
        <p:nvSpPr>
          <p:cNvPr id="13" name="Text 10"/>
          <p:cNvSpPr/>
          <p:nvPr/>
        </p:nvSpPr>
        <p:spPr>
          <a:xfrm>
            <a:off x="548640" y="1984248"/>
            <a:ext cx="3429000" cy="292608"/>
          </a:xfrm>
          <a:prstGeom prst="rect">
            <a:avLst/>
          </a:prstGeom>
          <a:noFill/>
          <a:ln/>
        </p:spPr>
        <p:txBody>
          <a:bodyPr wrap="square" lIns="0" tIns="0" rIns="0" bIns="0" rtlCol="0" anchor="ctr"/>
          <a:lstStyle/>
          <a:p>
            <a:pPr indent="0" marL="0">
              <a:buNone/>
            </a:pPr>
            <a:r>
              <a:rPr lang="en-US" sz="1200" b="1" dirty="0">
                <a:solidFill>
                  <a:srgbClr val="00C6FF"/>
                </a:solidFill>
                <a:latin typeface="Calibri" pitchFamily="34" charset="0"/>
                <a:ea typeface="Calibri" pitchFamily="34" charset="-122"/>
                <a:cs typeface="Calibri" pitchFamily="34" charset="-120"/>
              </a:rPr>
              <a:t>Top Driver: rolling_incon_10</a:t>
            </a:r>
            <a:endParaRPr lang="en-US" sz="1200" dirty="0"/>
          </a:p>
        </p:txBody>
      </p:sp>
      <p:sp>
        <p:nvSpPr>
          <p:cNvPr id="14" name="Text 11"/>
          <p:cNvSpPr/>
          <p:nvPr/>
        </p:nvSpPr>
        <p:spPr>
          <a:xfrm>
            <a:off x="548640" y="2286000"/>
            <a:ext cx="3429000" cy="512064"/>
          </a:xfrm>
          <a:prstGeom prst="rect">
            <a:avLst/>
          </a:prstGeom>
          <a:noFill/>
          <a:ln/>
        </p:spPr>
        <p:txBody>
          <a:bodyPr wrap="square" lIns="0" tIns="0" rIns="0" bIns="0" rtlCol="0" anchor="ctr"/>
          <a:lstStyle/>
          <a:p>
            <a:pPr indent="0" marL="0">
              <a:buNone/>
            </a:pPr>
            <a:r>
              <a:rPr lang="en-US" sz="1100" dirty="0">
                <a:solidFill>
                  <a:srgbClr val="E8EFF6"/>
                </a:solidFill>
                <a:latin typeface="Calibri" pitchFamily="34" charset="0"/>
                <a:ea typeface="Calibri" pitchFamily="34" charset="-122"/>
                <a:cs typeface="Calibri" pitchFamily="34" charset="-120"/>
              </a:rPr>
              <a:t>MI Score 0.44 — Longer temporal window confirms the pattern is not noise.</a:t>
            </a:r>
            <a:endParaRPr lang="en-US" sz="1100" dirty="0"/>
          </a:p>
        </p:txBody>
      </p:sp>
      <p:sp>
        <p:nvSpPr>
          <p:cNvPr id="15" name="Shape 12"/>
          <p:cNvSpPr/>
          <p:nvPr/>
        </p:nvSpPr>
        <p:spPr>
          <a:xfrm>
            <a:off x="411480" y="2926080"/>
            <a:ext cx="3657600" cy="914400"/>
          </a:xfrm>
          <a:prstGeom prst="rect">
            <a:avLst/>
          </a:prstGeom>
          <a:solidFill>
            <a:srgbClr val="162A3F"/>
          </a:solidFill>
          <a:ln w="12700">
            <a:solidFill>
              <a:srgbClr val="FFB800"/>
            </a:solidFill>
            <a:prstDash val="solid"/>
          </a:ln>
          <a:effectLst>
            <a:outerShdw sx="100000" sy="100000" kx="0" ky="0" algn="bl" rotWithShape="0" blurRad="101600" dist="38100" dir="8100000">
              <a:srgbClr val="000000">
                <a:alpha val="35000"/>
              </a:srgbClr>
            </a:outerShdw>
          </a:effectLst>
        </p:spPr>
      </p:sp>
      <p:sp>
        <p:nvSpPr>
          <p:cNvPr id="16" name="Shape 13"/>
          <p:cNvSpPr/>
          <p:nvPr/>
        </p:nvSpPr>
        <p:spPr>
          <a:xfrm>
            <a:off x="411480" y="2926080"/>
            <a:ext cx="54864" cy="914400"/>
          </a:xfrm>
          <a:prstGeom prst="rect">
            <a:avLst/>
          </a:prstGeom>
          <a:solidFill>
            <a:srgbClr val="FFB800"/>
          </a:solidFill>
          <a:ln w="12700">
            <a:solidFill>
              <a:srgbClr val="FFB800"/>
            </a:solidFill>
            <a:prstDash val="solid"/>
          </a:ln>
        </p:spPr>
      </p:sp>
      <p:sp>
        <p:nvSpPr>
          <p:cNvPr id="17" name="Text 14"/>
          <p:cNvSpPr/>
          <p:nvPr/>
        </p:nvSpPr>
        <p:spPr>
          <a:xfrm>
            <a:off x="548640" y="2990088"/>
            <a:ext cx="3429000" cy="292608"/>
          </a:xfrm>
          <a:prstGeom prst="rect">
            <a:avLst/>
          </a:prstGeom>
          <a:noFill/>
          <a:ln/>
        </p:spPr>
        <p:txBody>
          <a:bodyPr wrap="square" lIns="0" tIns="0" rIns="0" bIns="0" rtlCol="0" anchor="ctr"/>
          <a:lstStyle/>
          <a:p>
            <a:pPr indent="0" marL="0">
              <a:buNone/>
            </a:pPr>
            <a:r>
              <a:rPr lang="en-US" sz="1200" b="1" dirty="0">
                <a:solidFill>
                  <a:srgbClr val="FFB800"/>
                </a:solidFill>
                <a:latin typeface="Calibri" pitchFamily="34" charset="0"/>
                <a:ea typeface="Calibri" pitchFamily="34" charset="-122"/>
                <a:cs typeface="Calibri" pitchFamily="34" charset="-120"/>
              </a:rPr>
              <a:t>Third: pref_reversal_rate</a:t>
            </a:r>
            <a:endParaRPr lang="en-US" sz="1200" dirty="0"/>
          </a:p>
        </p:txBody>
      </p:sp>
      <p:sp>
        <p:nvSpPr>
          <p:cNvPr id="18" name="Text 15"/>
          <p:cNvSpPr/>
          <p:nvPr/>
        </p:nvSpPr>
        <p:spPr>
          <a:xfrm>
            <a:off x="548640" y="3291840"/>
            <a:ext cx="3429000" cy="512064"/>
          </a:xfrm>
          <a:prstGeom prst="rect">
            <a:avLst/>
          </a:prstGeom>
          <a:noFill/>
          <a:ln/>
        </p:spPr>
        <p:txBody>
          <a:bodyPr wrap="square" lIns="0" tIns="0" rIns="0" bIns="0" rtlCol="0" anchor="ctr"/>
          <a:lstStyle/>
          <a:p>
            <a:pPr indent="0" marL="0">
              <a:buNone/>
            </a:pPr>
            <a:r>
              <a:rPr lang="en-US" sz="1100" dirty="0">
                <a:solidFill>
                  <a:srgbClr val="E8EFF6"/>
                </a:solidFill>
                <a:latin typeface="Calibri" pitchFamily="34" charset="0"/>
                <a:ea typeface="Calibri" pitchFamily="34" charset="-122"/>
                <a:cs typeface="Calibri" pitchFamily="34" charset="-120"/>
              </a:rPr>
              <a:t>MI Score 0.33 — Preference reversals reveal unstable decision heuristics under fatigue.</a:t>
            </a:r>
            <a:endParaRPr lang="en-US" sz="1100" dirty="0"/>
          </a:p>
        </p:txBody>
      </p:sp>
      <p:sp>
        <p:nvSpPr>
          <p:cNvPr id="19" name="Shape 16"/>
          <p:cNvSpPr/>
          <p:nvPr/>
        </p:nvSpPr>
        <p:spPr>
          <a:xfrm>
            <a:off x="411480" y="3931920"/>
            <a:ext cx="3657600" cy="914400"/>
          </a:xfrm>
          <a:prstGeom prst="rect">
            <a:avLst/>
          </a:prstGeom>
          <a:solidFill>
            <a:srgbClr val="162A3F"/>
          </a:solidFill>
          <a:ln w="12700">
            <a:solidFill>
              <a:srgbClr val="8BAABF"/>
            </a:solidFill>
            <a:prstDash val="solid"/>
          </a:ln>
          <a:effectLst>
            <a:outerShdw sx="100000" sy="100000" kx="0" ky="0" algn="bl" rotWithShape="0" blurRad="101600" dist="38100" dir="8100000">
              <a:srgbClr val="000000">
                <a:alpha val="35000"/>
              </a:srgbClr>
            </a:outerShdw>
          </a:effectLst>
        </p:spPr>
      </p:sp>
      <p:sp>
        <p:nvSpPr>
          <p:cNvPr id="20" name="Shape 17"/>
          <p:cNvSpPr/>
          <p:nvPr/>
        </p:nvSpPr>
        <p:spPr>
          <a:xfrm>
            <a:off x="411480" y="3931920"/>
            <a:ext cx="54864" cy="914400"/>
          </a:xfrm>
          <a:prstGeom prst="rect">
            <a:avLst/>
          </a:prstGeom>
          <a:solidFill>
            <a:srgbClr val="8BAABF"/>
          </a:solidFill>
          <a:ln w="12700">
            <a:solidFill>
              <a:srgbClr val="8BAABF"/>
            </a:solidFill>
            <a:prstDash val="solid"/>
          </a:ln>
        </p:spPr>
      </p:sp>
      <p:sp>
        <p:nvSpPr>
          <p:cNvPr id="21" name="Text 18"/>
          <p:cNvSpPr/>
          <p:nvPr/>
        </p:nvSpPr>
        <p:spPr>
          <a:xfrm>
            <a:off x="548640" y="3995928"/>
            <a:ext cx="3429000" cy="292608"/>
          </a:xfrm>
          <a:prstGeom prst="rect">
            <a:avLst/>
          </a:prstGeom>
          <a:noFill/>
          <a:ln/>
        </p:spPr>
        <p:txBody>
          <a:bodyPr wrap="square" lIns="0" tIns="0" rIns="0" bIns="0" rtlCol="0" anchor="ctr"/>
          <a:lstStyle/>
          <a:p>
            <a:pPr indent="0" marL="0">
              <a:buNone/>
            </a:pPr>
            <a:r>
              <a:rPr lang="en-US" sz="1200" b="1" dirty="0">
                <a:solidFill>
                  <a:srgbClr val="8BAABF"/>
                </a:solidFill>
                <a:latin typeface="Calibri" pitchFamily="34" charset="0"/>
                <a:ea typeface="Calibri" pitchFamily="34" charset="-122"/>
                <a:cs typeface="Calibri" pitchFamily="34" charset="-120"/>
              </a:rPr>
              <a:t>DDM Features: Minimal Gain</a:t>
            </a:r>
            <a:endParaRPr lang="en-US" sz="1200" dirty="0"/>
          </a:p>
        </p:txBody>
      </p:sp>
      <p:sp>
        <p:nvSpPr>
          <p:cNvPr id="22" name="Text 19"/>
          <p:cNvSpPr/>
          <p:nvPr/>
        </p:nvSpPr>
        <p:spPr>
          <a:xfrm>
            <a:off x="548640" y="4297680"/>
            <a:ext cx="3429000" cy="512064"/>
          </a:xfrm>
          <a:prstGeom prst="rect">
            <a:avLst/>
          </a:prstGeom>
          <a:noFill/>
          <a:ln/>
        </p:spPr>
        <p:txBody>
          <a:bodyPr wrap="square" lIns="0" tIns="0" rIns="0" bIns="0" rtlCol="0" anchor="ctr"/>
          <a:lstStyle/>
          <a:p>
            <a:pPr indent="0" marL="0">
              <a:buNone/>
            </a:pPr>
            <a:r>
              <a:rPr lang="en-US" sz="1100" dirty="0">
                <a:solidFill>
                  <a:srgbClr val="E8EFF6"/>
                </a:solidFill>
                <a:latin typeface="Calibri" pitchFamily="34" charset="0"/>
                <a:ea typeface="Calibri" pitchFamily="34" charset="-122"/>
                <a:cs typeface="Calibri" pitchFamily="34" charset="-120"/>
              </a:rPr>
              <a:t>Ablation: removing DDM features costs only –0.0% AUC. Temporal features carry the real signal.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6B6B"/>
          </a:solidFill>
          <a:ln w="12700">
            <a:solidFill>
              <a:srgbClr val="FF6B6B"/>
            </a:solidFill>
            <a:prstDash val="solid"/>
          </a:ln>
        </p:spPr>
      </p:sp>
      <p:sp>
        <p:nvSpPr>
          <p:cNvPr id="3" name="Text 1"/>
          <p:cNvSpPr/>
          <p:nvPr/>
        </p:nvSpPr>
        <p:spPr>
          <a:xfrm>
            <a:off x="411480" y="256032"/>
            <a:ext cx="8229600" cy="411480"/>
          </a:xfrm>
          <a:prstGeom prst="rect">
            <a:avLst/>
          </a:prstGeom>
          <a:noFill/>
          <a:ln/>
        </p:spPr>
        <p:txBody>
          <a:bodyPr wrap="square" lIns="0" tIns="0" rIns="0" bIns="0" rtlCol="0" anchor="ctr"/>
          <a:lstStyle/>
          <a:p>
            <a:pPr indent="0" marL="0">
              <a:buNone/>
            </a:pPr>
            <a:r>
              <a:rPr lang="en-US" sz="2400" b="1" spc="200" kern="0" dirty="0">
                <a:solidFill>
                  <a:srgbClr val="FFFFFF"/>
                </a:solidFill>
                <a:latin typeface="Calibri" pitchFamily="34" charset="0"/>
                <a:ea typeface="Calibri" pitchFamily="34" charset="-122"/>
                <a:cs typeface="Calibri" pitchFamily="34" charset="-120"/>
              </a:rPr>
              <a:t>CHALLENGES &amp; SOLUTIONS</a:t>
            </a:r>
            <a:endParaRPr lang="en-US" sz="2400" dirty="0"/>
          </a:p>
        </p:txBody>
      </p:sp>
      <p:sp>
        <p:nvSpPr>
          <p:cNvPr id="4" name="Shape 2"/>
          <p:cNvSpPr/>
          <p:nvPr/>
        </p:nvSpPr>
        <p:spPr>
          <a:xfrm>
            <a:off x="411480" y="960120"/>
            <a:ext cx="8321040" cy="123444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sp>
        <p:nvSpPr>
          <p:cNvPr id="5" name="Text 3"/>
          <p:cNvSpPr/>
          <p:nvPr/>
        </p:nvSpPr>
        <p:spPr>
          <a:xfrm>
            <a:off x="548640" y="1024128"/>
            <a:ext cx="8229600" cy="292608"/>
          </a:xfrm>
          <a:prstGeom prst="rect">
            <a:avLst/>
          </a:prstGeom>
          <a:noFill/>
          <a:ln/>
        </p:spPr>
        <p:txBody>
          <a:bodyPr wrap="square" lIns="0" tIns="0" rIns="0" bIns="0" rtlCol="0" anchor="ctr"/>
          <a:lstStyle/>
          <a:p>
            <a:pPr indent="0" marL="0">
              <a:buNone/>
            </a:pPr>
            <a:r>
              <a:rPr lang="en-US" sz="1300" b="1" dirty="0">
                <a:solidFill>
                  <a:srgbClr val="FF6B6B"/>
                </a:solidFill>
                <a:latin typeface="Calibri" pitchFamily="34" charset="0"/>
                <a:ea typeface="Calibri" pitchFamily="34" charset="-122"/>
                <a:cs typeface="Calibri" pitchFamily="34" charset="-120"/>
              </a:rPr>
              <a:t>⚠️  Data Scaling Mismatch</a:t>
            </a:r>
            <a:endParaRPr lang="en-US" sz="1300" dirty="0"/>
          </a:p>
        </p:txBody>
      </p:sp>
      <p:sp>
        <p:nvSpPr>
          <p:cNvPr id="6" name="Text 4"/>
          <p:cNvSpPr/>
          <p:nvPr/>
        </p:nvSpPr>
        <p:spPr>
          <a:xfrm>
            <a:off x="548640" y="1307592"/>
            <a:ext cx="3931920" cy="594360"/>
          </a:xfrm>
          <a:prstGeom prst="rect">
            <a:avLst/>
          </a:prstGeom>
          <a:noFill/>
          <a:ln/>
        </p:spPr>
        <p:txBody>
          <a:bodyPr wrap="square" lIns="0" tIns="0" rIns="0" bIns="0" rtlCol="0" anchor="ctr"/>
          <a:lstStyle/>
          <a:p>
            <a:pPr indent="0" marL="0">
              <a:buNone/>
            </a:pPr>
            <a:r>
              <a:rPr lang="en-US" sz="1100" dirty="0">
                <a:solidFill>
                  <a:srgbClr val="8BAABF"/>
                </a:solidFill>
                <a:latin typeface="Calibri" pitchFamily="34" charset="0"/>
                <a:ea typeface="Calibri" pitchFamily="34" charset="-122"/>
                <a:cs typeface="Calibri" pitchFamily="34" charset="-120"/>
              </a:rPr>
              <a:t>Problem: Training used StandardScaler, but early API versions re-fit the scaler on each request — causing wildly inconsistent predictions in production.</a:t>
            </a:r>
            <a:endParaRPr lang="en-US" sz="1100" dirty="0"/>
          </a:p>
        </p:txBody>
      </p:sp>
      <p:sp>
        <p:nvSpPr>
          <p:cNvPr id="7" name="Text 5"/>
          <p:cNvSpPr/>
          <p:nvPr/>
        </p:nvSpPr>
        <p:spPr>
          <a:xfrm>
            <a:off x="4480560" y="1307592"/>
            <a:ext cx="4206240" cy="594360"/>
          </a:xfrm>
          <a:prstGeom prst="rect">
            <a:avLst/>
          </a:prstGeom>
          <a:noFill/>
          <a:ln/>
        </p:spPr>
        <p:txBody>
          <a:bodyPr wrap="square" lIns="0" tIns="0" rIns="0" bIns="0" rtlCol="0" anchor="ctr"/>
          <a:lstStyle/>
          <a:p>
            <a:pPr indent="0" marL="0">
              <a:buNone/>
            </a:pPr>
            <a:r>
              <a:rPr lang="en-US" sz="1100" dirty="0">
                <a:solidFill>
                  <a:srgbClr val="02C39A"/>
                </a:solidFill>
                <a:latin typeface="Calibri" pitchFamily="34" charset="0"/>
                <a:ea typeface="Calibri" pitchFamily="34" charset="-122"/>
                <a:cs typeface="Calibri" pitchFamily="34" charset="-120"/>
              </a:rPr>
              <a:t>✅  The scaler is now serialized with joblib during training and loaded once at API startup. All inference uses the identical transform as validation.</a:t>
            </a:r>
            <a:endParaRPr lang="en-US" sz="1100" dirty="0"/>
          </a:p>
        </p:txBody>
      </p:sp>
      <p:sp>
        <p:nvSpPr>
          <p:cNvPr id="8" name="Shape 6"/>
          <p:cNvSpPr/>
          <p:nvPr/>
        </p:nvSpPr>
        <p:spPr>
          <a:xfrm>
            <a:off x="411480" y="2331720"/>
            <a:ext cx="8321040" cy="123444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sp>
        <p:nvSpPr>
          <p:cNvPr id="9" name="Text 7"/>
          <p:cNvSpPr/>
          <p:nvPr/>
        </p:nvSpPr>
        <p:spPr>
          <a:xfrm>
            <a:off x="548640" y="2395728"/>
            <a:ext cx="8229600" cy="292608"/>
          </a:xfrm>
          <a:prstGeom prst="rect">
            <a:avLst/>
          </a:prstGeom>
          <a:noFill/>
          <a:ln/>
        </p:spPr>
        <p:txBody>
          <a:bodyPr wrap="square" lIns="0" tIns="0" rIns="0" bIns="0" rtlCol="0" anchor="ctr"/>
          <a:lstStyle/>
          <a:p>
            <a:pPr indent="0" marL="0">
              <a:buNone/>
            </a:pPr>
            <a:r>
              <a:rPr lang="en-US" sz="1300" b="1" dirty="0">
                <a:solidFill>
                  <a:srgbClr val="FF6B6B"/>
                </a:solidFill>
                <a:latin typeface="Calibri" pitchFamily="34" charset="0"/>
                <a:ea typeface="Calibri" pitchFamily="34" charset="-122"/>
                <a:cs typeface="Calibri" pitchFamily="34" charset="-120"/>
              </a:rPr>
              <a:t>⚠️  UI Complexity Overload</a:t>
            </a:r>
            <a:endParaRPr lang="en-US" sz="1300" dirty="0"/>
          </a:p>
        </p:txBody>
      </p:sp>
      <p:sp>
        <p:nvSpPr>
          <p:cNvPr id="10" name="Text 8"/>
          <p:cNvSpPr/>
          <p:nvPr/>
        </p:nvSpPr>
        <p:spPr>
          <a:xfrm>
            <a:off x="548640" y="2679192"/>
            <a:ext cx="3931920" cy="594360"/>
          </a:xfrm>
          <a:prstGeom prst="rect">
            <a:avLst/>
          </a:prstGeom>
          <a:noFill/>
          <a:ln/>
        </p:spPr>
        <p:txBody>
          <a:bodyPr wrap="square" lIns="0" tIns="0" rIns="0" bIns="0" rtlCol="0" anchor="ctr"/>
          <a:lstStyle/>
          <a:p>
            <a:pPr indent="0" marL="0">
              <a:buNone/>
            </a:pPr>
            <a:r>
              <a:rPr lang="en-US" sz="1100" dirty="0">
                <a:solidFill>
                  <a:srgbClr val="8BAABF"/>
                </a:solidFill>
                <a:latin typeface="Calibri" pitchFamily="34" charset="0"/>
                <a:ea typeface="Calibri" pitchFamily="34" charset="-122"/>
                <a:cs typeface="Calibri" pitchFamily="34" charset="-120"/>
              </a:rPr>
              <a:t>Problem: 19 raw feature variables like ez_drift_rate and drift_boundary_ratio are meaningless to non-experts — a complex interface that nobody would actually use.</a:t>
            </a:r>
            <a:endParaRPr lang="en-US" sz="1100" dirty="0"/>
          </a:p>
        </p:txBody>
      </p:sp>
      <p:sp>
        <p:nvSpPr>
          <p:cNvPr id="11" name="Text 9"/>
          <p:cNvSpPr/>
          <p:nvPr/>
        </p:nvSpPr>
        <p:spPr>
          <a:xfrm>
            <a:off x="4480560" y="2679192"/>
            <a:ext cx="4206240" cy="594360"/>
          </a:xfrm>
          <a:prstGeom prst="rect">
            <a:avLst/>
          </a:prstGeom>
          <a:noFill/>
          <a:ln/>
        </p:spPr>
        <p:txBody>
          <a:bodyPr wrap="square" lIns="0" tIns="0" rIns="0" bIns="0" rtlCol="0" anchor="ctr"/>
          <a:lstStyle/>
          <a:p>
            <a:pPr indent="0" marL="0">
              <a:buNone/>
            </a:pPr>
            <a:r>
              <a:rPr lang="en-US" sz="1100" dirty="0">
                <a:solidFill>
                  <a:srgbClr val="02C39A"/>
                </a:solidFill>
                <a:latin typeface="Calibri" pitchFamily="34" charset="0"/>
                <a:ea typeface="Calibri" pitchFamily="34" charset="-122"/>
                <a:cs typeface="Calibri" pitchFamily="34" charset="-120"/>
              </a:rPr>
              <a:t>✅  Introduced Simple/Expert mode with human-readable labels, contextual tooltips, and preset profiles. Reduced cognitive overhead while preserving full access.</a:t>
            </a:r>
            <a:endParaRPr lang="en-US" sz="1100" dirty="0"/>
          </a:p>
        </p:txBody>
      </p:sp>
      <p:sp>
        <p:nvSpPr>
          <p:cNvPr id="12" name="Shape 10"/>
          <p:cNvSpPr/>
          <p:nvPr/>
        </p:nvSpPr>
        <p:spPr>
          <a:xfrm>
            <a:off x="411480" y="3703320"/>
            <a:ext cx="8321040" cy="1234440"/>
          </a:xfrm>
          <a:prstGeom prst="rect">
            <a:avLst/>
          </a:prstGeom>
          <a:solidFill>
            <a:srgbClr val="162A3F"/>
          </a:solidFill>
          <a:ln w="6350">
            <a:solidFill>
              <a:srgbClr val="1E4976"/>
            </a:solidFill>
            <a:prstDash val="solid"/>
          </a:ln>
          <a:effectLst>
            <a:outerShdw sx="100000" sy="100000" kx="0" ky="0" algn="bl" rotWithShape="0" blurRad="101600" dist="38100" dir="8100000">
              <a:srgbClr val="000000">
                <a:alpha val="35000"/>
              </a:srgbClr>
            </a:outerShdw>
          </a:effectLst>
        </p:spPr>
      </p:sp>
      <p:sp>
        <p:nvSpPr>
          <p:cNvPr id="13" name="Text 11"/>
          <p:cNvSpPr/>
          <p:nvPr/>
        </p:nvSpPr>
        <p:spPr>
          <a:xfrm>
            <a:off x="548640" y="3767328"/>
            <a:ext cx="8229600" cy="292608"/>
          </a:xfrm>
          <a:prstGeom prst="rect">
            <a:avLst/>
          </a:prstGeom>
          <a:noFill/>
          <a:ln/>
        </p:spPr>
        <p:txBody>
          <a:bodyPr wrap="square" lIns="0" tIns="0" rIns="0" bIns="0" rtlCol="0" anchor="ctr"/>
          <a:lstStyle/>
          <a:p>
            <a:pPr indent="0" marL="0">
              <a:buNone/>
            </a:pPr>
            <a:r>
              <a:rPr lang="en-US" sz="1300" b="1" dirty="0">
                <a:solidFill>
                  <a:srgbClr val="FF6B6B"/>
                </a:solidFill>
                <a:latin typeface="Calibri" pitchFamily="34" charset="0"/>
                <a:ea typeface="Calibri" pitchFamily="34" charset="-122"/>
                <a:cs typeface="Calibri" pitchFamily="34" charset="-120"/>
              </a:rPr>
              <a:t>⚠️  Class Imbalance Handling</a:t>
            </a:r>
            <a:endParaRPr lang="en-US" sz="1300" dirty="0"/>
          </a:p>
        </p:txBody>
      </p:sp>
      <p:sp>
        <p:nvSpPr>
          <p:cNvPr id="14" name="Text 12"/>
          <p:cNvSpPr/>
          <p:nvPr/>
        </p:nvSpPr>
        <p:spPr>
          <a:xfrm>
            <a:off x="548640" y="4050792"/>
            <a:ext cx="3931920" cy="594360"/>
          </a:xfrm>
          <a:prstGeom prst="rect">
            <a:avLst/>
          </a:prstGeom>
          <a:noFill/>
          <a:ln/>
        </p:spPr>
        <p:txBody>
          <a:bodyPr wrap="square" lIns="0" tIns="0" rIns="0" bIns="0" rtlCol="0" anchor="ctr"/>
          <a:lstStyle/>
          <a:p>
            <a:pPr indent="0" marL="0">
              <a:buNone/>
            </a:pPr>
            <a:r>
              <a:rPr lang="en-US" sz="1100" dirty="0">
                <a:solidFill>
                  <a:srgbClr val="8BAABF"/>
                </a:solidFill>
                <a:latin typeface="Calibri" pitchFamily="34" charset="0"/>
                <a:ea typeface="Calibri" pitchFamily="34" charset="-122"/>
                <a:cs typeface="Calibri" pitchFamily="34" charset="-120"/>
              </a:rPr>
              <a:t>Problem: With 66% non-fatigued vs 34% fatigued, naive classifiers could hit 66% accuracy by always predicting the majority class.</a:t>
            </a:r>
            <a:endParaRPr lang="en-US" sz="1100" dirty="0"/>
          </a:p>
        </p:txBody>
      </p:sp>
      <p:sp>
        <p:nvSpPr>
          <p:cNvPr id="15" name="Text 13"/>
          <p:cNvSpPr/>
          <p:nvPr/>
        </p:nvSpPr>
        <p:spPr>
          <a:xfrm>
            <a:off x="4480560" y="4050792"/>
            <a:ext cx="4206240" cy="594360"/>
          </a:xfrm>
          <a:prstGeom prst="rect">
            <a:avLst/>
          </a:prstGeom>
          <a:noFill/>
          <a:ln/>
        </p:spPr>
        <p:txBody>
          <a:bodyPr wrap="square" lIns="0" tIns="0" rIns="0" bIns="0" rtlCol="0" anchor="ctr"/>
          <a:lstStyle/>
          <a:p>
            <a:pPr indent="0" marL="0">
              <a:buNone/>
            </a:pPr>
            <a:r>
              <a:rPr lang="en-US" sz="1100" dirty="0">
                <a:solidFill>
                  <a:srgbClr val="02C39A"/>
                </a:solidFill>
                <a:latin typeface="Calibri" pitchFamily="34" charset="0"/>
                <a:ea typeface="Calibri" pitchFamily="34" charset="-122"/>
                <a:cs typeface="Calibri" pitchFamily="34" charset="-120"/>
              </a:rPr>
              <a:t>✅  Used scale_pos_weight in XGBoost and focused optimization on F1-Score rather than raw accuracy — ensuring the minority class receives proper weighting.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FB800"/>
          </a:solidFill>
          <a:ln w="12700">
            <a:solidFill>
              <a:srgbClr val="FFB800"/>
            </a:solidFill>
            <a:prstDash val="solid"/>
          </a:ln>
        </p:spPr>
      </p:sp>
      <p:sp>
        <p:nvSpPr>
          <p:cNvPr id="3" name="Text 1"/>
          <p:cNvSpPr/>
          <p:nvPr/>
        </p:nvSpPr>
        <p:spPr>
          <a:xfrm>
            <a:off x="411480" y="256032"/>
            <a:ext cx="8229600" cy="411480"/>
          </a:xfrm>
          <a:prstGeom prst="rect">
            <a:avLst/>
          </a:prstGeom>
          <a:noFill/>
          <a:ln/>
        </p:spPr>
        <p:txBody>
          <a:bodyPr wrap="square" lIns="0" tIns="0" rIns="0" bIns="0" rtlCol="0" anchor="ctr"/>
          <a:lstStyle/>
          <a:p>
            <a:pPr indent="0" marL="0">
              <a:buNone/>
            </a:pPr>
            <a:r>
              <a:rPr lang="en-US" sz="2400" b="1" spc="200" kern="0" dirty="0">
                <a:solidFill>
                  <a:srgbClr val="FFFFFF"/>
                </a:solidFill>
                <a:latin typeface="Calibri" pitchFamily="34" charset="0"/>
                <a:ea typeface="Calibri" pitchFamily="34" charset="-122"/>
                <a:cs typeface="Calibri" pitchFamily="34" charset="-120"/>
              </a:rPr>
              <a:t>FUTURE IMPROVEMENTS</a:t>
            </a:r>
            <a:endParaRPr lang="en-US" sz="2400" dirty="0"/>
          </a:p>
        </p:txBody>
      </p:sp>
      <p:sp>
        <p:nvSpPr>
          <p:cNvPr id="4" name="Text 2"/>
          <p:cNvSpPr/>
          <p:nvPr/>
        </p:nvSpPr>
        <p:spPr>
          <a:xfrm>
            <a:off x="411480" y="667512"/>
            <a:ext cx="4572000" cy="256032"/>
          </a:xfrm>
          <a:prstGeom prst="rect">
            <a:avLst/>
          </a:prstGeom>
          <a:noFill/>
          <a:ln/>
        </p:spPr>
        <p:txBody>
          <a:bodyPr wrap="square" lIns="0" tIns="0" rIns="0" bIns="0" rtlCol="0" anchor="ctr"/>
          <a:lstStyle/>
          <a:p>
            <a:pPr indent="0" marL="0">
              <a:buNone/>
            </a:pPr>
            <a:r>
              <a:rPr lang="en-US" sz="1300" i="1" dirty="0">
                <a:solidFill>
                  <a:srgbClr val="8BAABF"/>
                </a:solidFill>
                <a:latin typeface="Calibri" pitchFamily="34" charset="0"/>
                <a:ea typeface="Calibri" pitchFamily="34" charset="-122"/>
                <a:cs typeface="Calibri" pitchFamily="34" charset="-120"/>
              </a:rPr>
              <a:t>The Road Ahead</a:t>
            </a:r>
            <a:endParaRPr lang="en-US" sz="1300" dirty="0"/>
          </a:p>
        </p:txBody>
      </p:sp>
      <p:sp>
        <p:nvSpPr>
          <p:cNvPr id="5" name="Shape 3"/>
          <p:cNvSpPr/>
          <p:nvPr/>
        </p:nvSpPr>
        <p:spPr>
          <a:xfrm>
            <a:off x="411480" y="1051560"/>
            <a:ext cx="2697480" cy="3566160"/>
          </a:xfrm>
          <a:prstGeom prst="rect">
            <a:avLst/>
          </a:prstGeom>
          <a:solidFill>
            <a:srgbClr val="162A3F"/>
          </a:solidFill>
          <a:ln w="12700">
            <a:solidFill>
              <a:srgbClr val="00C6FF"/>
            </a:solidFill>
            <a:prstDash val="solid"/>
          </a:ln>
          <a:effectLst>
            <a:outerShdw sx="100000" sy="100000" kx="0" ky="0" algn="bl" rotWithShape="0" blurRad="101600" dist="38100" dir="8100000">
              <a:srgbClr val="000000">
                <a:alpha val="35000"/>
              </a:srgbClr>
            </a:outerShdw>
          </a:effectLst>
        </p:spPr>
      </p:sp>
      <p:sp>
        <p:nvSpPr>
          <p:cNvPr id="6" name="Shape 4"/>
          <p:cNvSpPr/>
          <p:nvPr/>
        </p:nvSpPr>
        <p:spPr>
          <a:xfrm>
            <a:off x="411480" y="1051560"/>
            <a:ext cx="2697480" cy="347472"/>
          </a:xfrm>
          <a:prstGeom prst="rect">
            <a:avLst/>
          </a:prstGeom>
          <a:solidFill>
            <a:srgbClr val="00C6FF"/>
          </a:solidFill>
          <a:ln w="12700">
            <a:solidFill>
              <a:srgbClr val="00C6FF"/>
            </a:solidFill>
            <a:prstDash val="solid"/>
          </a:ln>
        </p:spPr>
      </p:sp>
      <p:sp>
        <p:nvSpPr>
          <p:cNvPr id="7" name="Text 5"/>
          <p:cNvSpPr/>
          <p:nvPr/>
        </p:nvSpPr>
        <p:spPr>
          <a:xfrm>
            <a:off x="411480" y="1051560"/>
            <a:ext cx="2697480" cy="347472"/>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SHORT-TERM</a:t>
            </a:r>
            <a:endParaRPr lang="en-US" sz="1100" dirty="0"/>
          </a:p>
        </p:txBody>
      </p:sp>
      <p:sp>
        <p:nvSpPr>
          <p:cNvPr id="8" name="Text 6"/>
          <p:cNvSpPr/>
          <p:nvPr/>
        </p:nvSpPr>
        <p:spPr>
          <a:xfrm>
            <a:off x="502920" y="1490472"/>
            <a:ext cx="2514600" cy="804672"/>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  Hardware integration (keyboard telemetry, mouse dynamics)</a:t>
            </a:r>
            <a:endParaRPr lang="en-US" sz="1150" dirty="0"/>
          </a:p>
        </p:txBody>
      </p:sp>
      <p:sp>
        <p:nvSpPr>
          <p:cNvPr id="9" name="Text 7"/>
          <p:cNvSpPr/>
          <p:nvPr/>
        </p:nvSpPr>
        <p:spPr>
          <a:xfrm>
            <a:off x="502920" y="2359152"/>
            <a:ext cx="2514600" cy="804672"/>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  Mobile app (iOS/Android) with background data collection</a:t>
            </a:r>
            <a:endParaRPr lang="en-US" sz="1150" dirty="0"/>
          </a:p>
        </p:txBody>
      </p:sp>
      <p:sp>
        <p:nvSpPr>
          <p:cNvPr id="10" name="Text 8"/>
          <p:cNvSpPr/>
          <p:nvPr/>
        </p:nvSpPr>
        <p:spPr>
          <a:xfrm>
            <a:off x="502920" y="3227832"/>
            <a:ext cx="2514600" cy="804672"/>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  Time-series modeling with LSTM / Transformer architecture</a:t>
            </a:r>
            <a:endParaRPr lang="en-US" sz="1150" dirty="0"/>
          </a:p>
        </p:txBody>
      </p:sp>
      <p:sp>
        <p:nvSpPr>
          <p:cNvPr id="11" name="Shape 9"/>
          <p:cNvSpPr/>
          <p:nvPr/>
        </p:nvSpPr>
        <p:spPr>
          <a:xfrm>
            <a:off x="3319272" y="1051560"/>
            <a:ext cx="2697480" cy="3566160"/>
          </a:xfrm>
          <a:prstGeom prst="rect">
            <a:avLst/>
          </a:prstGeom>
          <a:solidFill>
            <a:srgbClr val="162A3F"/>
          </a:solidFill>
          <a:ln w="12700">
            <a:solidFill>
              <a:srgbClr val="02C39A"/>
            </a:solidFill>
            <a:prstDash val="solid"/>
          </a:ln>
          <a:effectLst>
            <a:outerShdw sx="100000" sy="100000" kx="0" ky="0" algn="bl" rotWithShape="0" blurRad="101600" dist="38100" dir="8100000">
              <a:srgbClr val="000000">
                <a:alpha val="35000"/>
              </a:srgbClr>
            </a:outerShdw>
          </a:effectLst>
        </p:spPr>
      </p:sp>
      <p:sp>
        <p:nvSpPr>
          <p:cNvPr id="12" name="Shape 10"/>
          <p:cNvSpPr/>
          <p:nvPr/>
        </p:nvSpPr>
        <p:spPr>
          <a:xfrm>
            <a:off x="3319272" y="1051560"/>
            <a:ext cx="2697480" cy="347472"/>
          </a:xfrm>
          <a:prstGeom prst="rect">
            <a:avLst/>
          </a:prstGeom>
          <a:solidFill>
            <a:srgbClr val="02C39A"/>
          </a:solidFill>
          <a:ln w="12700">
            <a:solidFill>
              <a:srgbClr val="02C39A"/>
            </a:solidFill>
            <a:prstDash val="solid"/>
          </a:ln>
        </p:spPr>
      </p:sp>
      <p:sp>
        <p:nvSpPr>
          <p:cNvPr id="13" name="Text 11"/>
          <p:cNvSpPr/>
          <p:nvPr/>
        </p:nvSpPr>
        <p:spPr>
          <a:xfrm>
            <a:off x="3319272" y="1051560"/>
            <a:ext cx="2697480" cy="347472"/>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MEDIUM-TERM</a:t>
            </a:r>
            <a:endParaRPr lang="en-US" sz="1100" dirty="0"/>
          </a:p>
        </p:txBody>
      </p:sp>
      <p:sp>
        <p:nvSpPr>
          <p:cNvPr id="14" name="Text 12"/>
          <p:cNvSpPr/>
          <p:nvPr/>
        </p:nvSpPr>
        <p:spPr>
          <a:xfrm>
            <a:off x="3410712" y="1490472"/>
            <a:ext cx="2514600" cy="804672"/>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  Eye-tracking &amp; blink rate integration via webcam</a:t>
            </a:r>
            <a:endParaRPr lang="en-US" sz="1150" dirty="0"/>
          </a:p>
        </p:txBody>
      </p:sp>
      <p:sp>
        <p:nvSpPr>
          <p:cNvPr id="15" name="Text 13"/>
          <p:cNvSpPr/>
          <p:nvPr/>
        </p:nvSpPr>
        <p:spPr>
          <a:xfrm>
            <a:off x="3410712" y="2359152"/>
            <a:ext cx="2514600" cy="804672"/>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  Longitudinal fatigue profiling (user baselines over sessions)</a:t>
            </a:r>
            <a:endParaRPr lang="en-US" sz="1150" dirty="0"/>
          </a:p>
        </p:txBody>
      </p:sp>
      <p:sp>
        <p:nvSpPr>
          <p:cNvPr id="16" name="Text 14"/>
          <p:cNvSpPr/>
          <p:nvPr/>
        </p:nvSpPr>
        <p:spPr>
          <a:xfrm>
            <a:off x="3410712" y="3227832"/>
            <a:ext cx="2514600" cy="804672"/>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  Adaptive alerts: notify when fatigue probability exceeds threshold</a:t>
            </a:r>
            <a:endParaRPr lang="en-US" sz="1150" dirty="0"/>
          </a:p>
        </p:txBody>
      </p:sp>
      <p:sp>
        <p:nvSpPr>
          <p:cNvPr id="17" name="Shape 15"/>
          <p:cNvSpPr/>
          <p:nvPr/>
        </p:nvSpPr>
        <p:spPr>
          <a:xfrm>
            <a:off x="6227064" y="1051560"/>
            <a:ext cx="2697480" cy="3566160"/>
          </a:xfrm>
          <a:prstGeom prst="rect">
            <a:avLst/>
          </a:prstGeom>
          <a:solidFill>
            <a:srgbClr val="162A3F"/>
          </a:solidFill>
          <a:ln w="12700">
            <a:solidFill>
              <a:srgbClr val="FFB800"/>
            </a:solidFill>
            <a:prstDash val="solid"/>
          </a:ln>
          <a:effectLst>
            <a:outerShdw sx="100000" sy="100000" kx="0" ky="0" algn="bl" rotWithShape="0" blurRad="101600" dist="38100" dir="8100000">
              <a:srgbClr val="000000">
                <a:alpha val="35000"/>
              </a:srgbClr>
            </a:outerShdw>
          </a:effectLst>
        </p:spPr>
      </p:sp>
      <p:sp>
        <p:nvSpPr>
          <p:cNvPr id="18" name="Shape 16"/>
          <p:cNvSpPr/>
          <p:nvPr/>
        </p:nvSpPr>
        <p:spPr>
          <a:xfrm>
            <a:off x="6227064" y="1051560"/>
            <a:ext cx="2697480" cy="347472"/>
          </a:xfrm>
          <a:prstGeom prst="rect">
            <a:avLst/>
          </a:prstGeom>
          <a:solidFill>
            <a:srgbClr val="FFB800"/>
          </a:solidFill>
          <a:ln w="12700">
            <a:solidFill>
              <a:srgbClr val="FFB800"/>
            </a:solidFill>
            <a:prstDash val="solid"/>
          </a:ln>
        </p:spPr>
      </p:sp>
      <p:sp>
        <p:nvSpPr>
          <p:cNvPr id="19" name="Text 17"/>
          <p:cNvSpPr/>
          <p:nvPr/>
        </p:nvSpPr>
        <p:spPr>
          <a:xfrm>
            <a:off x="6227064" y="1051560"/>
            <a:ext cx="2697480" cy="347472"/>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LONG-TERM</a:t>
            </a:r>
            <a:endParaRPr lang="en-US" sz="1100" dirty="0"/>
          </a:p>
        </p:txBody>
      </p:sp>
      <p:sp>
        <p:nvSpPr>
          <p:cNvPr id="20" name="Text 18"/>
          <p:cNvSpPr/>
          <p:nvPr/>
        </p:nvSpPr>
        <p:spPr>
          <a:xfrm>
            <a:off x="6318504" y="1490472"/>
            <a:ext cx="2514600" cy="804672"/>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  Clinical pilot studies in healthcare &amp; aviation environments</a:t>
            </a:r>
            <a:endParaRPr lang="en-US" sz="1150" dirty="0"/>
          </a:p>
        </p:txBody>
      </p:sp>
      <p:sp>
        <p:nvSpPr>
          <p:cNvPr id="21" name="Text 19"/>
          <p:cNvSpPr/>
          <p:nvPr/>
        </p:nvSpPr>
        <p:spPr>
          <a:xfrm>
            <a:off x="6318504" y="2359152"/>
            <a:ext cx="2514600" cy="804672"/>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  Multi-modal fusion (behavioral + physiological + environmental)</a:t>
            </a:r>
            <a:endParaRPr lang="en-US" sz="1150" dirty="0"/>
          </a:p>
        </p:txBody>
      </p:sp>
      <p:sp>
        <p:nvSpPr>
          <p:cNvPr id="22" name="Text 20"/>
          <p:cNvSpPr/>
          <p:nvPr/>
        </p:nvSpPr>
        <p:spPr>
          <a:xfrm>
            <a:off x="6318504" y="3227832"/>
            <a:ext cx="2514600" cy="804672"/>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  Federated learning: model updates without centralizing user data</a:t>
            </a:r>
            <a:endParaRPr lang="en-US" sz="1150" dirty="0"/>
          </a:p>
        </p:txBody>
      </p:sp>
      <p:sp>
        <p:nvSpPr>
          <p:cNvPr id="23" name="Text 21"/>
          <p:cNvSpPr/>
          <p:nvPr/>
        </p:nvSpPr>
        <p:spPr>
          <a:xfrm>
            <a:off x="411480" y="4754880"/>
            <a:ext cx="8321040" cy="237744"/>
          </a:xfrm>
          <a:prstGeom prst="rect">
            <a:avLst/>
          </a:prstGeom>
          <a:noFill/>
          <a:ln/>
        </p:spPr>
        <p:txBody>
          <a:bodyPr wrap="square" lIns="0" tIns="0" rIns="0" bIns="0" rtlCol="0" anchor="ctr"/>
          <a:lstStyle/>
          <a:p>
            <a:pPr algn="ctr" indent="0" marL="0">
              <a:buNone/>
            </a:pPr>
            <a:r>
              <a:rPr lang="en-US" sz="1100" i="1" dirty="0">
                <a:solidFill>
                  <a:srgbClr val="8BAABF"/>
                </a:solidFill>
                <a:latin typeface="Calibri" pitchFamily="34" charset="0"/>
                <a:ea typeface="Calibri" pitchFamily="34" charset="-122"/>
                <a:cs typeface="Calibri" pitchFamily="34" charset="-120"/>
              </a:rPr>
              <a:t>Our long-term vision: a universal, non-intrusive cognitive fatigue layer that plugs into any decision-intensive workflow.</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6FF"/>
          </a:solidFill>
          <a:ln w="12700">
            <a:solidFill>
              <a:srgbClr val="00C6FF"/>
            </a:solidFill>
            <a:prstDash val="solid"/>
          </a:ln>
        </p:spPr>
      </p:sp>
      <p:sp>
        <p:nvSpPr>
          <p:cNvPr id="3" name="Text 1"/>
          <p:cNvSpPr/>
          <p:nvPr/>
        </p:nvSpPr>
        <p:spPr>
          <a:xfrm>
            <a:off x="457200" y="201168"/>
            <a:ext cx="8229600" cy="502920"/>
          </a:xfrm>
          <a:prstGeom prst="rect">
            <a:avLst/>
          </a:prstGeom>
          <a:noFill/>
          <a:ln/>
        </p:spPr>
        <p:txBody>
          <a:bodyPr wrap="square" lIns="0" tIns="0" rIns="0" bIns="0" rtlCol="0" anchor="ctr"/>
          <a:lstStyle/>
          <a:p>
            <a:pPr indent="0" marL="0">
              <a:buNone/>
            </a:pPr>
            <a:r>
              <a:rPr lang="en-US" sz="2800" b="1" spc="300" kern="0" dirty="0">
                <a:solidFill>
                  <a:srgbClr val="FFFFFF"/>
                </a:solidFill>
                <a:latin typeface="Calibri" pitchFamily="34" charset="0"/>
                <a:ea typeface="Calibri" pitchFamily="34" charset="-122"/>
                <a:cs typeface="Calibri" pitchFamily="34" charset="-120"/>
              </a:rPr>
              <a:t>CONCLUSION</a:t>
            </a:r>
            <a:endParaRPr lang="en-US" sz="2800" dirty="0"/>
          </a:p>
        </p:txBody>
      </p:sp>
      <p:sp>
        <p:nvSpPr>
          <p:cNvPr id="4" name="Shape 2"/>
          <p:cNvSpPr/>
          <p:nvPr/>
        </p:nvSpPr>
        <p:spPr>
          <a:xfrm>
            <a:off x="457200" y="868680"/>
            <a:ext cx="1920240" cy="1051560"/>
          </a:xfrm>
          <a:prstGeom prst="rect">
            <a:avLst/>
          </a:prstGeom>
          <a:solidFill>
            <a:srgbClr val="162A3F"/>
          </a:solidFill>
          <a:ln w="12700">
            <a:solidFill>
              <a:srgbClr val="02C39A"/>
            </a:solidFill>
            <a:prstDash val="solid"/>
          </a:ln>
          <a:effectLst>
            <a:outerShdw sx="100000" sy="100000" kx="0" ky="0" algn="bl" rotWithShape="0" blurRad="101600" dist="38100" dir="8100000">
              <a:srgbClr val="000000">
                <a:alpha val="35000"/>
              </a:srgbClr>
            </a:outerShdw>
          </a:effectLst>
        </p:spPr>
      </p:sp>
      <p:sp>
        <p:nvSpPr>
          <p:cNvPr id="5" name="Text 3"/>
          <p:cNvSpPr/>
          <p:nvPr/>
        </p:nvSpPr>
        <p:spPr>
          <a:xfrm>
            <a:off x="457200" y="914400"/>
            <a:ext cx="1920240" cy="566928"/>
          </a:xfrm>
          <a:prstGeom prst="rect">
            <a:avLst/>
          </a:prstGeom>
          <a:noFill/>
          <a:ln/>
        </p:spPr>
        <p:txBody>
          <a:bodyPr wrap="square" lIns="0" tIns="0" rIns="0" bIns="0" rtlCol="0" anchor="ctr"/>
          <a:lstStyle/>
          <a:p>
            <a:pPr algn="ctr" indent="0" marL="0">
              <a:buNone/>
            </a:pPr>
            <a:r>
              <a:rPr lang="en-US" sz="3000" b="1" dirty="0">
                <a:solidFill>
                  <a:srgbClr val="02C39A"/>
                </a:solidFill>
                <a:latin typeface="Calibri" pitchFamily="34" charset="0"/>
                <a:ea typeface="Calibri" pitchFamily="34" charset="-122"/>
                <a:cs typeface="Calibri" pitchFamily="34" charset="-120"/>
              </a:rPr>
              <a:t>0.967</a:t>
            </a:r>
            <a:endParaRPr lang="en-US" sz="3000" dirty="0"/>
          </a:p>
        </p:txBody>
      </p:sp>
      <p:sp>
        <p:nvSpPr>
          <p:cNvPr id="6" name="Text 4"/>
          <p:cNvSpPr/>
          <p:nvPr/>
        </p:nvSpPr>
        <p:spPr>
          <a:xfrm>
            <a:off x="457200" y="1481328"/>
            <a:ext cx="1920240" cy="310896"/>
          </a:xfrm>
          <a:prstGeom prst="rect">
            <a:avLst/>
          </a:prstGeom>
          <a:noFill/>
          <a:ln/>
        </p:spPr>
        <p:txBody>
          <a:bodyPr wrap="square" lIns="0" tIns="0" rIns="0" bIns="0" rtlCol="0" anchor="ctr"/>
          <a:lstStyle/>
          <a:p>
            <a:pPr algn="ctr" indent="0" marL="0">
              <a:buNone/>
            </a:pPr>
            <a:r>
              <a:rPr lang="en-US" sz="1150" dirty="0">
                <a:solidFill>
                  <a:srgbClr val="8BAABF"/>
                </a:solidFill>
                <a:latin typeface="Calibri" pitchFamily="34" charset="0"/>
                <a:ea typeface="Calibri" pitchFamily="34" charset="-122"/>
                <a:cs typeface="Calibri" pitchFamily="34" charset="-120"/>
              </a:rPr>
              <a:t>ROC-AUC</a:t>
            </a:r>
            <a:endParaRPr lang="en-US" sz="1150" dirty="0"/>
          </a:p>
        </p:txBody>
      </p:sp>
      <p:sp>
        <p:nvSpPr>
          <p:cNvPr id="7" name="Shape 5"/>
          <p:cNvSpPr/>
          <p:nvPr/>
        </p:nvSpPr>
        <p:spPr>
          <a:xfrm>
            <a:off x="2542032" y="868680"/>
            <a:ext cx="1920240" cy="1051560"/>
          </a:xfrm>
          <a:prstGeom prst="rect">
            <a:avLst/>
          </a:prstGeom>
          <a:solidFill>
            <a:srgbClr val="162A3F"/>
          </a:solidFill>
          <a:ln w="12700">
            <a:solidFill>
              <a:srgbClr val="00C6FF"/>
            </a:solidFill>
            <a:prstDash val="solid"/>
          </a:ln>
          <a:effectLst>
            <a:outerShdw sx="100000" sy="100000" kx="0" ky="0" algn="bl" rotWithShape="0" blurRad="101600" dist="38100" dir="8100000">
              <a:srgbClr val="000000">
                <a:alpha val="35000"/>
              </a:srgbClr>
            </a:outerShdw>
          </a:effectLst>
        </p:spPr>
      </p:sp>
      <p:sp>
        <p:nvSpPr>
          <p:cNvPr id="8" name="Text 6"/>
          <p:cNvSpPr/>
          <p:nvPr/>
        </p:nvSpPr>
        <p:spPr>
          <a:xfrm>
            <a:off x="2542032" y="914400"/>
            <a:ext cx="1920240" cy="566928"/>
          </a:xfrm>
          <a:prstGeom prst="rect">
            <a:avLst/>
          </a:prstGeom>
          <a:noFill/>
          <a:ln/>
        </p:spPr>
        <p:txBody>
          <a:bodyPr wrap="square" lIns="0" tIns="0" rIns="0" bIns="0" rtlCol="0" anchor="ctr"/>
          <a:lstStyle/>
          <a:p>
            <a:pPr algn="ctr" indent="0" marL="0">
              <a:buNone/>
            </a:pPr>
            <a:r>
              <a:rPr lang="en-US" sz="3000" b="1" dirty="0">
                <a:solidFill>
                  <a:srgbClr val="00C6FF"/>
                </a:solidFill>
                <a:latin typeface="Calibri" pitchFamily="34" charset="0"/>
                <a:ea typeface="Calibri" pitchFamily="34" charset="-122"/>
                <a:cs typeface="Calibri" pitchFamily="34" charset="-120"/>
              </a:rPr>
              <a:t>0.866</a:t>
            </a:r>
            <a:endParaRPr lang="en-US" sz="3000" dirty="0"/>
          </a:p>
        </p:txBody>
      </p:sp>
      <p:sp>
        <p:nvSpPr>
          <p:cNvPr id="9" name="Text 7"/>
          <p:cNvSpPr/>
          <p:nvPr/>
        </p:nvSpPr>
        <p:spPr>
          <a:xfrm>
            <a:off x="2542032" y="1481328"/>
            <a:ext cx="1920240" cy="310896"/>
          </a:xfrm>
          <a:prstGeom prst="rect">
            <a:avLst/>
          </a:prstGeom>
          <a:noFill/>
          <a:ln/>
        </p:spPr>
        <p:txBody>
          <a:bodyPr wrap="square" lIns="0" tIns="0" rIns="0" bIns="0" rtlCol="0" anchor="ctr"/>
          <a:lstStyle/>
          <a:p>
            <a:pPr algn="ctr" indent="0" marL="0">
              <a:buNone/>
            </a:pPr>
            <a:r>
              <a:rPr lang="en-US" sz="1150" dirty="0">
                <a:solidFill>
                  <a:srgbClr val="8BAABF"/>
                </a:solidFill>
                <a:latin typeface="Calibri" pitchFamily="34" charset="0"/>
                <a:ea typeface="Calibri" pitchFamily="34" charset="-122"/>
                <a:cs typeface="Calibri" pitchFamily="34" charset="-120"/>
              </a:rPr>
              <a:t>F1-Score</a:t>
            </a:r>
            <a:endParaRPr lang="en-US" sz="1150" dirty="0"/>
          </a:p>
        </p:txBody>
      </p:sp>
      <p:sp>
        <p:nvSpPr>
          <p:cNvPr id="10" name="Shape 8"/>
          <p:cNvSpPr/>
          <p:nvPr/>
        </p:nvSpPr>
        <p:spPr>
          <a:xfrm>
            <a:off x="4626864" y="868680"/>
            <a:ext cx="1920240" cy="1051560"/>
          </a:xfrm>
          <a:prstGeom prst="rect">
            <a:avLst/>
          </a:prstGeom>
          <a:solidFill>
            <a:srgbClr val="162A3F"/>
          </a:solidFill>
          <a:ln w="12700">
            <a:solidFill>
              <a:srgbClr val="FFB800"/>
            </a:solidFill>
            <a:prstDash val="solid"/>
          </a:ln>
          <a:effectLst>
            <a:outerShdw sx="100000" sy="100000" kx="0" ky="0" algn="bl" rotWithShape="0" blurRad="101600" dist="38100" dir="8100000">
              <a:srgbClr val="000000">
                <a:alpha val="35000"/>
              </a:srgbClr>
            </a:outerShdw>
          </a:effectLst>
        </p:spPr>
      </p:sp>
      <p:sp>
        <p:nvSpPr>
          <p:cNvPr id="11" name="Text 9"/>
          <p:cNvSpPr/>
          <p:nvPr/>
        </p:nvSpPr>
        <p:spPr>
          <a:xfrm>
            <a:off x="4626864" y="914400"/>
            <a:ext cx="1920240" cy="566928"/>
          </a:xfrm>
          <a:prstGeom prst="rect">
            <a:avLst/>
          </a:prstGeom>
          <a:noFill/>
          <a:ln/>
        </p:spPr>
        <p:txBody>
          <a:bodyPr wrap="square" lIns="0" tIns="0" rIns="0" bIns="0" rtlCol="0" anchor="ctr"/>
          <a:lstStyle/>
          <a:p>
            <a:pPr algn="ctr" indent="0" marL="0">
              <a:buNone/>
            </a:pPr>
            <a:r>
              <a:rPr lang="en-US" sz="3000" b="1" dirty="0">
                <a:solidFill>
                  <a:srgbClr val="FFB800"/>
                </a:solidFill>
                <a:latin typeface="Calibri" pitchFamily="34" charset="0"/>
                <a:ea typeface="Calibri" pitchFamily="34" charset="-122"/>
                <a:cs typeface="Calibri" pitchFamily="34" charset="-120"/>
              </a:rPr>
              <a:t>&lt;10ms</a:t>
            </a:r>
            <a:endParaRPr lang="en-US" sz="3000" dirty="0"/>
          </a:p>
        </p:txBody>
      </p:sp>
      <p:sp>
        <p:nvSpPr>
          <p:cNvPr id="12" name="Text 10"/>
          <p:cNvSpPr/>
          <p:nvPr/>
        </p:nvSpPr>
        <p:spPr>
          <a:xfrm>
            <a:off x="4626864" y="1481328"/>
            <a:ext cx="1920240" cy="310896"/>
          </a:xfrm>
          <a:prstGeom prst="rect">
            <a:avLst/>
          </a:prstGeom>
          <a:noFill/>
          <a:ln/>
        </p:spPr>
        <p:txBody>
          <a:bodyPr wrap="square" lIns="0" tIns="0" rIns="0" bIns="0" rtlCol="0" anchor="ctr"/>
          <a:lstStyle/>
          <a:p>
            <a:pPr algn="ctr" indent="0" marL="0">
              <a:buNone/>
            </a:pPr>
            <a:r>
              <a:rPr lang="en-US" sz="1150" dirty="0">
                <a:solidFill>
                  <a:srgbClr val="8BAABF"/>
                </a:solidFill>
                <a:latin typeface="Calibri" pitchFamily="34" charset="0"/>
                <a:ea typeface="Calibri" pitchFamily="34" charset="-122"/>
                <a:cs typeface="Calibri" pitchFamily="34" charset="-120"/>
              </a:rPr>
              <a:t>API Latency</a:t>
            </a:r>
            <a:endParaRPr lang="en-US" sz="1150" dirty="0"/>
          </a:p>
        </p:txBody>
      </p:sp>
      <p:sp>
        <p:nvSpPr>
          <p:cNvPr id="13" name="Shape 11"/>
          <p:cNvSpPr/>
          <p:nvPr/>
        </p:nvSpPr>
        <p:spPr>
          <a:xfrm>
            <a:off x="6711696" y="868680"/>
            <a:ext cx="1920240" cy="1051560"/>
          </a:xfrm>
          <a:prstGeom prst="rect">
            <a:avLst/>
          </a:prstGeom>
          <a:solidFill>
            <a:srgbClr val="162A3F"/>
          </a:solidFill>
          <a:ln w="12700">
            <a:solidFill>
              <a:srgbClr val="028090"/>
            </a:solidFill>
            <a:prstDash val="solid"/>
          </a:ln>
          <a:effectLst>
            <a:outerShdw sx="100000" sy="100000" kx="0" ky="0" algn="bl" rotWithShape="0" blurRad="101600" dist="38100" dir="8100000">
              <a:srgbClr val="000000">
                <a:alpha val="35000"/>
              </a:srgbClr>
            </a:outerShdw>
          </a:effectLst>
        </p:spPr>
      </p:sp>
      <p:sp>
        <p:nvSpPr>
          <p:cNvPr id="14" name="Text 12"/>
          <p:cNvSpPr/>
          <p:nvPr/>
        </p:nvSpPr>
        <p:spPr>
          <a:xfrm>
            <a:off x="6711696" y="914400"/>
            <a:ext cx="1920240" cy="566928"/>
          </a:xfrm>
          <a:prstGeom prst="rect">
            <a:avLst/>
          </a:prstGeom>
          <a:noFill/>
          <a:ln/>
        </p:spPr>
        <p:txBody>
          <a:bodyPr wrap="square" lIns="0" tIns="0" rIns="0" bIns="0" rtlCol="0" anchor="ctr"/>
          <a:lstStyle/>
          <a:p>
            <a:pPr algn="ctr" indent="0" marL="0">
              <a:buNone/>
            </a:pPr>
            <a:r>
              <a:rPr lang="en-US" sz="3000" b="1" dirty="0">
                <a:solidFill>
                  <a:srgbClr val="028090"/>
                </a:solidFill>
                <a:latin typeface="Calibri" pitchFamily="34" charset="0"/>
                <a:ea typeface="Calibri" pitchFamily="34" charset="-122"/>
                <a:cs typeface="Calibri" pitchFamily="34" charset="-120"/>
              </a:rPr>
              <a:t>19</a:t>
            </a:r>
            <a:endParaRPr lang="en-US" sz="3000" dirty="0"/>
          </a:p>
        </p:txBody>
      </p:sp>
      <p:sp>
        <p:nvSpPr>
          <p:cNvPr id="15" name="Text 13"/>
          <p:cNvSpPr/>
          <p:nvPr/>
        </p:nvSpPr>
        <p:spPr>
          <a:xfrm>
            <a:off x="6711696" y="1481328"/>
            <a:ext cx="1920240" cy="310896"/>
          </a:xfrm>
          <a:prstGeom prst="rect">
            <a:avLst/>
          </a:prstGeom>
          <a:noFill/>
          <a:ln/>
        </p:spPr>
        <p:txBody>
          <a:bodyPr wrap="square" lIns="0" tIns="0" rIns="0" bIns="0" rtlCol="0" anchor="ctr"/>
          <a:lstStyle/>
          <a:p>
            <a:pPr algn="ctr" indent="0" marL="0">
              <a:buNone/>
            </a:pPr>
            <a:r>
              <a:rPr lang="en-US" sz="1150" dirty="0">
                <a:solidFill>
                  <a:srgbClr val="8BAABF"/>
                </a:solidFill>
                <a:latin typeface="Calibri" pitchFamily="34" charset="0"/>
                <a:ea typeface="Calibri" pitchFamily="34" charset="-122"/>
                <a:cs typeface="Calibri" pitchFamily="34" charset="-120"/>
              </a:rPr>
              <a:t>Features</a:t>
            </a:r>
            <a:endParaRPr lang="en-US" sz="1150" dirty="0"/>
          </a:p>
        </p:txBody>
      </p:sp>
      <p:sp>
        <p:nvSpPr>
          <p:cNvPr id="16" name="Text 14"/>
          <p:cNvSpPr/>
          <p:nvPr/>
        </p:nvSpPr>
        <p:spPr>
          <a:xfrm>
            <a:off x="457200" y="2084832"/>
            <a:ext cx="8321040" cy="1207008"/>
          </a:xfrm>
          <a:prstGeom prst="rect">
            <a:avLst/>
          </a:prstGeom>
          <a:noFill/>
          <a:ln/>
        </p:spPr>
        <p:txBody>
          <a:bodyPr wrap="square" lIns="0" tIns="0" rIns="0" bIns="0" rtlCol="0" anchor="t"/>
          <a:lstStyle/>
          <a:p>
            <a:pPr indent="0" marL="0">
              <a:buNone/>
            </a:pPr>
            <a:r>
              <a:rPr lang="en-US" sz="1400" b="1" dirty="0">
                <a:solidFill>
                  <a:srgbClr val="02C39A"/>
                </a:solidFill>
                <a:latin typeface="Calibri" pitchFamily="34" charset="0"/>
                <a:ea typeface="Calibri" pitchFamily="34" charset="-122"/>
                <a:cs typeface="Calibri" pitchFamily="34" charset="-120"/>
              </a:rPr>
              <a:t>✓  </a:t>
            </a:r>
            <a:pPr indent="0" marL="0">
              <a:buNone/>
            </a:pPr>
            <a:r>
              <a:rPr lang="en-US" sz="1300" dirty="0">
                <a:solidFill>
                  <a:srgbClr val="E8EFF6"/>
                </a:solidFill>
                <a:latin typeface="Calibri" pitchFamily="34" charset="0"/>
                <a:ea typeface="Calibri" pitchFamily="34" charset="-122"/>
                <a:cs typeface="Calibri" pitchFamily="34" charset="-120"/>
              </a:rPr>
              <a:t>Behavioral data alone is sufficient to detect cognitive fatigue with clinical-grade accuracy.
</a:t>
            </a:r>
            <a:pPr indent="0" marL="0">
              <a:buNone/>
            </a:pPr>
            <a:r>
              <a:rPr lang="en-US" sz="1400" b="1" dirty="0">
                <a:solidFill>
                  <a:srgbClr val="02C39A"/>
                </a:solidFill>
                <a:latin typeface="Calibri" pitchFamily="34" charset="0"/>
                <a:ea typeface="Calibri" pitchFamily="34" charset="-122"/>
                <a:cs typeface="Calibri" pitchFamily="34" charset="-120"/>
              </a:rPr>
              <a:t>✓  </a:t>
            </a:r>
            <a:pPr indent="0" marL="0">
              <a:buNone/>
            </a:pPr>
            <a:r>
              <a:rPr lang="en-US" sz="1300" dirty="0">
                <a:solidFill>
                  <a:srgbClr val="E8EFF6"/>
                </a:solidFill>
                <a:latin typeface="Calibri" pitchFamily="34" charset="0"/>
                <a:ea typeface="Calibri" pitchFamily="34" charset="-122"/>
                <a:cs typeface="Calibri" pitchFamily="34" charset="-120"/>
              </a:rPr>
              <a:t>Temporal inconsistency features vastly outperform static cognitive metrics — a novel empirical finding.
</a:t>
            </a:r>
            <a:pPr indent="0" marL="0">
              <a:buNone/>
            </a:pPr>
            <a:r>
              <a:rPr lang="en-US" sz="1400" b="1" dirty="0">
                <a:solidFill>
                  <a:srgbClr val="02C39A"/>
                </a:solidFill>
                <a:latin typeface="Calibri" pitchFamily="34" charset="0"/>
                <a:ea typeface="Calibri" pitchFamily="34" charset="-122"/>
                <a:cs typeface="Calibri" pitchFamily="34" charset="-120"/>
              </a:rPr>
              <a:t>✓  </a:t>
            </a:r>
            <a:pPr indent="0" marL="0">
              <a:buNone/>
            </a:pPr>
            <a:r>
              <a:rPr lang="en-US" sz="1300" dirty="0">
                <a:solidFill>
                  <a:srgbClr val="E8EFF6"/>
                </a:solidFill>
                <a:latin typeface="Calibri" pitchFamily="34" charset="0"/>
                <a:ea typeface="Calibri" pitchFamily="34" charset="-122"/>
                <a:cs typeface="Calibri" pitchFamily="34" charset="-120"/>
              </a:rPr>
              <a:t>The full-stack system — API, model, UI, SHAP — is production-ready and fully deployable.</a:t>
            </a:r>
            <a:endParaRPr lang="en-US" sz="1400" dirty="0"/>
          </a:p>
        </p:txBody>
      </p:sp>
      <p:sp>
        <p:nvSpPr>
          <p:cNvPr id="17" name="Shape 15"/>
          <p:cNvSpPr/>
          <p:nvPr/>
        </p:nvSpPr>
        <p:spPr>
          <a:xfrm>
            <a:off x="457200" y="3401568"/>
            <a:ext cx="8321040" cy="1170432"/>
          </a:xfrm>
          <a:prstGeom prst="rect">
            <a:avLst/>
          </a:prstGeom>
          <a:solidFill>
            <a:srgbClr val="1A3A5C"/>
          </a:solidFill>
          <a:ln w="12700">
            <a:solidFill>
              <a:srgbClr val="00C6FF"/>
            </a:solidFill>
            <a:prstDash val="solid"/>
          </a:ln>
          <a:effectLst>
            <a:outerShdw sx="100000" sy="100000" kx="0" ky="0" algn="bl" rotWithShape="0" blurRad="101600" dist="38100" dir="8100000">
              <a:srgbClr val="000000">
                <a:alpha val="35000"/>
              </a:srgbClr>
            </a:outerShdw>
          </a:effectLst>
        </p:spPr>
      </p:sp>
      <p:sp>
        <p:nvSpPr>
          <p:cNvPr id="18" name="Text 16"/>
          <p:cNvSpPr/>
          <p:nvPr/>
        </p:nvSpPr>
        <p:spPr>
          <a:xfrm>
            <a:off x="640080" y="3493008"/>
            <a:ext cx="7955280" cy="274320"/>
          </a:xfrm>
          <a:prstGeom prst="rect">
            <a:avLst/>
          </a:prstGeom>
          <a:noFill/>
          <a:ln/>
        </p:spPr>
        <p:txBody>
          <a:bodyPr wrap="square" lIns="0" tIns="0" rIns="0" bIns="0" rtlCol="0" anchor="ctr"/>
          <a:lstStyle/>
          <a:p>
            <a:pPr indent="0" marL="0">
              <a:buNone/>
            </a:pPr>
            <a:r>
              <a:rPr lang="en-US" sz="1200" b="1" dirty="0">
                <a:solidFill>
                  <a:srgbClr val="00C6FF"/>
                </a:solidFill>
                <a:latin typeface="Calibri" pitchFamily="34" charset="0"/>
                <a:ea typeface="Calibri" pitchFamily="34" charset="-122"/>
                <a:cs typeface="Calibri" pitchFamily="34" charset="-120"/>
              </a:rPr>
              <a:t>Special Thanks</a:t>
            </a:r>
            <a:endParaRPr lang="en-US" sz="1200" dirty="0"/>
          </a:p>
        </p:txBody>
      </p:sp>
      <p:sp>
        <p:nvSpPr>
          <p:cNvPr id="19" name="Text 17"/>
          <p:cNvSpPr/>
          <p:nvPr/>
        </p:nvSpPr>
        <p:spPr>
          <a:xfrm>
            <a:off x="640080" y="3776472"/>
            <a:ext cx="7955280" cy="640080"/>
          </a:xfrm>
          <a:prstGeom prst="rect">
            <a:avLst/>
          </a:prstGeom>
          <a:noFill/>
          <a:ln/>
        </p:spPr>
        <p:txBody>
          <a:bodyPr wrap="square" lIns="0" tIns="0" rIns="0" bIns="0" rtlCol="0" anchor="ctr"/>
          <a:lstStyle/>
          <a:p>
            <a:pPr indent="0" marL="0">
              <a:buNone/>
            </a:pPr>
            <a:r>
              <a:rPr lang="en-US" sz="1150" dirty="0">
                <a:solidFill>
                  <a:srgbClr val="E8EFF6"/>
                </a:solidFill>
                <a:latin typeface="Calibri" pitchFamily="34" charset="0"/>
                <a:ea typeface="Calibri" pitchFamily="34" charset="-122"/>
                <a:cs typeface="Calibri" pitchFamily="34" charset="-120"/>
              </a:rPr>
              <a:t>We extend our heartfelt gratitude to our project advisor, Asst. Prof. Dr. Denizhan Demirkol, whose expert guidance, constructive feedback, and unwavering support were instrumental in shaping this project from concept to completion.</a:t>
            </a:r>
            <a:endParaRPr lang="en-US" sz="1150" dirty="0"/>
          </a:p>
        </p:txBody>
      </p:sp>
      <p:sp>
        <p:nvSpPr>
          <p:cNvPr id="20" name="Text 18"/>
          <p:cNvSpPr/>
          <p:nvPr/>
        </p:nvSpPr>
        <p:spPr>
          <a:xfrm>
            <a:off x="0" y="4754880"/>
            <a:ext cx="9144000" cy="246888"/>
          </a:xfrm>
          <a:prstGeom prst="rect">
            <a:avLst/>
          </a:prstGeom>
          <a:noFill/>
          <a:ln/>
        </p:spPr>
        <p:txBody>
          <a:bodyPr wrap="square" lIns="0" tIns="0" rIns="0" bIns="0" rtlCol="0" anchor="ctr"/>
          <a:lstStyle/>
          <a:p>
            <a:pPr algn="ctr" indent="0" marL="0">
              <a:buNone/>
            </a:pPr>
            <a:r>
              <a:rPr lang="en-US" sz="1300" b="1" spc="400" kern="0" dirty="0">
                <a:solidFill>
                  <a:srgbClr val="8BAABF"/>
                </a:solidFill>
                <a:latin typeface="Calibri" pitchFamily="34" charset="0"/>
                <a:ea typeface="Calibri" pitchFamily="34" charset="-122"/>
                <a:cs typeface="Calibri" pitchFamily="34" charset="-120"/>
              </a:rPr>
              <a:t>Questions &amp; Discussion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BDFS — Behavioral Decision Fatigue Scoring</dc:title>
  <dc:subject>PptxGenJS Presentation</dc:subject>
  <dc:creator>BDFS Team</dc:creator>
  <cp:lastModifiedBy>BDFS Team</cp:lastModifiedBy>
  <cp:revision>1</cp:revision>
  <dcterms:created xsi:type="dcterms:W3CDTF">2026-06-02T19:51:47Z</dcterms:created>
  <dcterms:modified xsi:type="dcterms:W3CDTF">2026-06-02T19:51:47Z</dcterms:modified>
</cp:coreProperties>
</file>